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9" r:id="rId8"/>
    <p:sldId id="270" r:id="rId9"/>
    <p:sldId id="271" r:id="rId10"/>
    <p:sldId id="272" r:id="rId11"/>
    <p:sldId id="273" r:id="rId12"/>
    <p:sldId id="274" r:id="rId13"/>
    <p:sldId id="276" r:id="rId1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204" y="-1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avindsai Thanneru" userId="65022aa622c36cbd" providerId="LiveId" clId="{877BF71F-556F-4AAB-BD01-22DBE8C53429}"/>
    <pc:docChg chg="modSld">
      <pc:chgData name="Aravindsai Thanneru" userId="65022aa622c36cbd" providerId="LiveId" clId="{877BF71F-556F-4AAB-BD01-22DBE8C53429}" dt="2025-10-16T10:40:11.737" v="3" actId="1035"/>
      <pc:docMkLst>
        <pc:docMk/>
      </pc:docMkLst>
      <pc:sldChg chg="modSp mod">
        <pc:chgData name="Aravindsai Thanneru" userId="65022aa622c36cbd" providerId="LiveId" clId="{877BF71F-556F-4AAB-BD01-22DBE8C53429}" dt="2025-10-16T10:40:11.737" v="3" actId="1035"/>
        <pc:sldMkLst>
          <pc:docMk/>
          <pc:sldMk cId="0" sldId="256"/>
        </pc:sldMkLst>
        <pc:picChg chg="mod">
          <ac:chgData name="Aravindsai Thanneru" userId="65022aa622c36cbd" providerId="LiveId" clId="{877BF71F-556F-4AAB-BD01-22DBE8C53429}" dt="2025-10-16T10:40:11.737" v="3" actId="1035"/>
          <ac:picMkLst>
            <pc:docMk/>
            <pc:sldMk cId="0" sldId="256"/>
            <ac:picMk id="2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6771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1"/>
            <a:ext cx="8534400" cy="42319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7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2319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370066" y="1890077"/>
            <a:ext cx="4531359" cy="4001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963176" y="6283805"/>
            <a:ext cx="2949299" cy="44659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7575" y="252350"/>
            <a:ext cx="9791064" cy="6771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17589" y="1842200"/>
            <a:ext cx="10156825" cy="42319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1"/>
            <a:ext cx="39014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1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1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15498" y="228600"/>
            <a:ext cx="12191999" cy="684847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769870" y="4023044"/>
            <a:ext cx="6661150" cy="5175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algn="just">
              <a:spcBef>
                <a:spcPts val="125"/>
              </a:spcBef>
            </a:pPr>
            <a:r>
              <a:rPr lang="en-US" sz="3200" dirty="0">
                <a:solidFill>
                  <a:srgbClr val="000000"/>
                </a:solidFill>
                <a:latin typeface="Arial"/>
                <a:cs typeface="Arial"/>
              </a:rPr>
              <a:t>           </a:t>
            </a:r>
            <a:r>
              <a:rPr sz="3200" dirty="0">
                <a:solidFill>
                  <a:srgbClr val="000000"/>
                </a:solidFill>
                <a:latin typeface="Arial"/>
                <a:cs typeface="Arial"/>
              </a:rPr>
              <a:t>Movie</a:t>
            </a:r>
            <a:r>
              <a:rPr sz="3200" spc="-4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000000"/>
                </a:solidFill>
                <a:latin typeface="Arial"/>
                <a:cs typeface="Arial"/>
              </a:rPr>
              <a:t>Sales</a:t>
            </a:r>
            <a:r>
              <a:rPr sz="3200" spc="-3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000000"/>
                </a:solidFill>
                <a:latin typeface="Arial"/>
                <a:cs typeface="Arial"/>
              </a:rPr>
              <a:t>Analysis</a:t>
            </a:r>
            <a:endParaRPr sz="3200" dirty="0">
              <a:latin typeface="Arial"/>
              <a:cs typeface="Arial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EC5C1B90-932E-B3AB-B102-DAB4BFD926B2}"/>
              </a:ext>
            </a:extLst>
          </p:cNvPr>
          <p:cNvSpPr txBox="1"/>
          <p:nvPr/>
        </p:nvSpPr>
        <p:spPr>
          <a:xfrm>
            <a:off x="736918" y="718758"/>
            <a:ext cx="9087485" cy="29302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endParaRPr dirty="0">
              <a:latin typeface="Calibri"/>
              <a:cs typeface="Calibri"/>
            </a:endParaRP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E2324FE9-2C6E-5C6E-5EC1-0B59A2F416B4}"/>
              </a:ext>
            </a:extLst>
          </p:cNvPr>
          <p:cNvSpPr txBox="1"/>
          <p:nvPr/>
        </p:nvSpPr>
        <p:spPr>
          <a:xfrm>
            <a:off x="736918" y="5284507"/>
            <a:ext cx="9087485" cy="29302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endParaRPr dirty="0">
              <a:latin typeface="Calibri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613E6C-7A8E-8F21-2E94-408EB97C56B4}"/>
              </a:ext>
            </a:extLst>
          </p:cNvPr>
          <p:cNvSpPr txBox="1"/>
          <p:nvPr/>
        </p:nvSpPr>
        <p:spPr>
          <a:xfrm>
            <a:off x="228600" y="4953001"/>
            <a:ext cx="4114800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 dirty="0"/>
              <a:t>GROUP MEMBERS:</a:t>
            </a:r>
          </a:p>
          <a:p>
            <a:pPr lvl="2"/>
            <a:r>
              <a:rPr lang="en-IN" dirty="0"/>
              <a:t>     </a:t>
            </a:r>
            <a:r>
              <a:rPr lang="en-IN" sz="2000" b="1" dirty="0"/>
              <a:t>1.  G. Subba Reddy </a:t>
            </a:r>
          </a:p>
          <a:p>
            <a:pPr lvl="2"/>
            <a:r>
              <a:rPr lang="en-IN" sz="2000" b="1" dirty="0"/>
              <a:t>     2.  T. Venkata Aravind Sai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181" y="252352"/>
            <a:ext cx="7343298" cy="1386661"/>
          </a:xfrm>
          <a:prstGeom prst="rect">
            <a:avLst/>
          </a:prstGeom>
        </p:spPr>
        <p:txBody>
          <a:bodyPr vert="horz" wrap="square" lIns="0" tIns="179450" rIns="0" bIns="0" rtlCol="0">
            <a:spAutoFit/>
          </a:bodyPr>
          <a:lstStyle/>
          <a:p>
            <a:pPr marL="90805" marR="5080">
              <a:lnSpc>
                <a:spcPts val="4730"/>
              </a:lnSpc>
              <a:spcBef>
                <a:spcPts val="745"/>
              </a:spcBef>
            </a:pPr>
            <a:r>
              <a:rPr dirty="0"/>
              <a:t>1.</a:t>
            </a:r>
            <a:r>
              <a:rPr spc="-50" dirty="0"/>
              <a:t> </a:t>
            </a:r>
            <a:r>
              <a:rPr dirty="0"/>
              <a:t>Business</a:t>
            </a:r>
            <a:r>
              <a:rPr spc="-35" dirty="0"/>
              <a:t> </a:t>
            </a:r>
            <a:r>
              <a:rPr dirty="0"/>
              <a:t>Problem</a:t>
            </a:r>
            <a:r>
              <a:rPr spc="-75" dirty="0"/>
              <a:t> </a:t>
            </a:r>
            <a:r>
              <a:rPr dirty="0"/>
              <a:t>&amp;</a:t>
            </a:r>
            <a:r>
              <a:rPr spc="-105" dirty="0"/>
              <a:t> </a:t>
            </a:r>
            <a:r>
              <a:rPr dirty="0"/>
              <a:t>Use</a:t>
            </a:r>
            <a:r>
              <a:rPr spc="-45" dirty="0"/>
              <a:t> </a:t>
            </a:r>
            <a:r>
              <a:rPr dirty="0"/>
              <a:t>Case</a:t>
            </a:r>
            <a:r>
              <a:rPr spc="-55" dirty="0"/>
              <a:t> </a:t>
            </a:r>
            <a:r>
              <a:rPr dirty="0"/>
              <a:t>/</a:t>
            </a:r>
            <a:r>
              <a:rPr spc="-90" dirty="0"/>
              <a:t> </a:t>
            </a:r>
            <a:r>
              <a:rPr spc="-10" dirty="0"/>
              <a:t>Domain Understanding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763192" y="1842201"/>
            <a:ext cx="7617619" cy="5705729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27305">
              <a:spcBef>
                <a:spcPts val="505"/>
              </a:spcBef>
            </a:pPr>
            <a:r>
              <a:rPr sz="2600" b="1" dirty="0"/>
              <a:t>What</a:t>
            </a:r>
            <a:r>
              <a:rPr sz="2600" b="1" spc="-25" dirty="0"/>
              <a:t> </a:t>
            </a:r>
            <a:r>
              <a:rPr sz="2600" b="1" dirty="0"/>
              <a:t>to</a:t>
            </a:r>
            <a:r>
              <a:rPr sz="2600" b="1" spc="-5" dirty="0"/>
              <a:t> </a:t>
            </a:r>
            <a:r>
              <a:rPr sz="2600" b="1" spc="-10" dirty="0"/>
              <a:t>include:</a:t>
            </a:r>
            <a:endParaRPr sz="2600"/>
          </a:p>
          <a:p>
            <a:pPr marL="27305">
              <a:spcBef>
                <a:spcPts val="409"/>
              </a:spcBef>
            </a:pPr>
            <a:r>
              <a:rPr sz="2600" b="1" spc="-10" dirty="0"/>
              <a:t>Domain</a:t>
            </a:r>
            <a:r>
              <a:rPr sz="2600" spc="-10" dirty="0"/>
              <a:t>:Entertainment</a:t>
            </a:r>
            <a:r>
              <a:rPr sz="2600" spc="-25" dirty="0"/>
              <a:t> </a:t>
            </a:r>
            <a:r>
              <a:rPr sz="2600" dirty="0"/>
              <a:t>Industry</a:t>
            </a:r>
            <a:r>
              <a:rPr sz="2600" spc="-35" dirty="0"/>
              <a:t> </a:t>
            </a:r>
            <a:r>
              <a:rPr sz="2600" dirty="0"/>
              <a:t>/</a:t>
            </a:r>
            <a:r>
              <a:rPr sz="2600" spc="-5" dirty="0"/>
              <a:t> </a:t>
            </a:r>
            <a:r>
              <a:rPr sz="2600" dirty="0"/>
              <a:t>Movie Sales</a:t>
            </a:r>
            <a:r>
              <a:rPr sz="2600" spc="-20" dirty="0"/>
              <a:t> </a:t>
            </a:r>
            <a:r>
              <a:rPr sz="2600" spc="-10" dirty="0"/>
              <a:t>Analytics.</a:t>
            </a:r>
            <a:endParaRPr sz="2600"/>
          </a:p>
          <a:p>
            <a:pPr marL="27305" marR="5080">
              <a:lnSpc>
                <a:spcPct val="79400"/>
              </a:lnSpc>
              <a:spcBef>
                <a:spcPts val="1050"/>
              </a:spcBef>
            </a:pPr>
            <a:r>
              <a:rPr sz="2600" b="1" dirty="0"/>
              <a:t>Business</a:t>
            </a:r>
            <a:r>
              <a:rPr sz="2600" b="1" spc="-75" dirty="0"/>
              <a:t> </a:t>
            </a:r>
            <a:r>
              <a:rPr sz="2600" b="1" dirty="0"/>
              <a:t>Problem</a:t>
            </a:r>
            <a:r>
              <a:rPr sz="2600" dirty="0"/>
              <a:t>:The</a:t>
            </a:r>
            <a:r>
              <a:rPr sz="2600" spc="-40" dirty="0"/>
              <a:t> </a:t>
            </a:r>
            <a:r>
              <a:rPr sz="2600" dirty="0"/>
              <a:t>movie</a:t>
            </a:r>
            <a:r>
              <a:rPr sz="2600" spc="-40" dirty="0"/>
              <a:t> </a:t>
            </a:r>
            <a:r>
              <a:rPr sz="2600" dirty="0"/>
              <a:t>industry</a:t>
            </a:r>
            <a:r>
              <a:rPr sz="2600" spc="-70" dirty="0"/>
              <a:t> </a:t>
            </a:r>
            <a:r>
              <a:rPr sz="2600" dirty="0"/>
              <a:t>generates</a:t>
            </a:r>
            <a:r>
              <a:rPr sz="2600" spc="-55" dirty="0"/>
              <a:t> </a:t>
            </a:r>
            <a:r>
              <a:rPr sz="2600" dirty="0"/>
              <a:t>vast</a:t>
            </a:r>
            <a:r>
              <a:rPr sz="2600" spc="-60" dirty="0"/>
              <a:t> </a:t>
            </a:r>
            <a:r>
              <a:rPr sz="2600" dirty="0"/>
              <a:t>amounts</a:t>
            </a:r>
            <a:r>
              <a:rPr sz="2600" spc="-60" dirty="0"/>
              <a:t> </a:t>
            </a:r>
            <a:r>
              <a:rPr sz="2600" dirty="0"/>
              <a:t>of</a:t>
            </a:r>
            <a:r>
              <a:rPr sz="2600" spc="-60" dirty="0"/>
              <a:t> </a:t>
            </a:r>
            <a:r>
              <a:rPr sz="2600" dirty="0"/>
              <a:t>data</a:t>
            </a:r>
            <a:r>
              <a:rPr sz="2600" spc="5" dirty="0"/>
              <a:t> </a:t>
            </a:r>
            <a:r>
              <a:rPr sz="2600" spc="-25" dirty="0"/>
              <a:t>on </a:t>
            </a:r>
            <a:r>
              <a:rPr sz="2600" dirty="0"/>
              <a:t>revenue,</a:t>
            </a:r>
            <a:r>
              <a:rPr sz="2600" spc="-85" dirty="0"/>
              <a:t> </a:t>
            </a:r>
            <a:r>
              <a:rPr sz="2600" dirty="0"/>
              <a:t>ratings,</a:t>
            </a:r>
            <a:r>
              <a:rPr sz="2600" spc="-85" dirty="0"/>
              <a:t> </a:t>
            </a:r>
            <a:r>
              <a:rPr sz="2600" dirty="0"/>
              <a:t>and</a:t>
            </a:r>
            <a:r>
              <a:rPr sz="2600" spc="-55" dirty="0"/>
              <a:t> </a:t>
            </a:r>
            <a:r>
              <a:rPr sz="2600" dirty="0"/>
              <a:t>audience</a:t>
            </a:r>
            <a:r>
              <a:rPr sz="2600" spc="-60" dirty="0"/>
              <a:t> </a:t>
            </a:r>
            <a:r>
              <a:rPr sz="2600" dirty="0"/>
              <a:t>engagement.</a:t>
            </a:r>
            <a:r>
              <a:rPr sz="2600" spc="-90" dirty="0"/>
              <a:t> </a:t>
            </a:r>
            <a:r>
              <a:rPr sz="2600" dirty="0"/>
              <a:t>Understanding</a:t>
            </a:r>
            <a:r>
              <a:rPr sz="2600" spc="5" dirty="0"/>
              <a:t> </a:t>
            </a:r>
            <a:r>
              <a:rPr sz="2600" dirty="0"/>
              <a:t>trends</a:t>
            </a:r>
            <a:r>
              <a:rPr sz="2600" spc="-80" dirty="0"/>
              <a:t> </a:t>
            </a:r>
            <a:r>
              <a:rPr sz="2600" dirty="0"/>
              <a:t>by</a:t>
            </a:r>
            <a:r>
              <a:rPr sz="2600" spc="-20" dirty="0"/>
              <a:t> </a:t>
            </a:r>
            <a:r>
              <a:rPr sz="2600" spc="-10" dirty="0"/>
              <a:t>year, </a:t>
            </a:r>
            <a:r>
              <a:rPr sz="2600" dirty="0"/>
              <a:t>genre,</a:t>
            </a:r>
            <a:r>
              <a:rPr sz="2600" spc="-30" dirty="0"/>
              <a:t> </a:t>
            </a:r>
            <a:r>
              <a:rPr sz="2600" dirty="0"/>
              <a:t>and</a:t>
            </a:r>
            <a:r>
              <a:rPr sz="2600" spc="-70" dirty="0"/>
              <a:t> </a:t>
            </a:r>
            <a:r>
              <a:rPr sz="2600" dirty="0"/>
              <a:t>ratings</a:t>
            </a:r>
            <a:r>
              <a:rPr sz="2600" spc="-25" dirty="0"/>
              <a:t> </a:t>
            </a:r>
            <a:r>
              <a:rPr sz="2600" dirty="0"/>
              <a:t>supports</a:t>
            </a:r>
            <a:r>
              <a:rPr sz="2600" spc="-95" dirty="0"/>
              <a:t> </a:t>
            </a:r>
            <a:r>
              <a:rPr sz="2600" dirty="0"/>
              <a:t>better</a:t>
            </a:r>
            <a:r>
              <a:rPr sz="2600" spc="-60" dirty="0"/>
              <a:t> </a:t>
            </a:r>
            <a:r>
              <a:rPr sz="2600" dirty="0"/>
              <a:t>production</a:t>
            </a:r>
            <a:r>
              <a:rPr sz="2600" spc="-75" dirty="0"/>
              <a:t> </a:t>
            </a:r>
            <a:r>
              <a:rPr sz="2600" dirty="0"/>
              <a:t>and</a:t>
            </a:r>
            <a:r>
              <a:rPr sz="2600" spc="-70" dirty="0"/>
              <a:t> </a:t>
            </a:r>
            <a:r>
              <a:rPr sz="2600" dirty="0"/>
              <a:t>marketing</a:t>
            </a:r>
            <a:r>
              <a:rPr sz="2600" spc="-80" dirty="0"/>
              <a:t> </a:t>
            </a:r>
            <a:r>
              <a:rPr sz="2600" spc="-10" dirty="0"/>
              <a:t>decisions.</a:t>
            </a:r>
            <a:endParaRPr sz="2600"/>
          </a:p>
          <a:p>
            <a:pPr marL="27305">
              <a:spcBef>
                <a:spcPts val="409"/>
              </a:spcBef>
            </a:pPr>
            <a:r>
              <a:rPr sz="2600" b="1" dirty="0"/>
              <a:t>Use</a:t>
            </a:r>
            <a:r>
              <a:rPr sz="2600" b="1" spc="-60" dirty="0"/>
              <a:t> </a:t>
            </a:r>
            <a:r>
              <a:rPr sz="2600" b="1" dirty="0"/>
              <a:t>Case</a:t>
            </a:r>
            <a:r>
              <a:rPr sz="2600" b="1" spc="20" dirty="0"/>
              <a:t> </a:t>
            </a:r>
            <a:r>
              <a:rPr sz="2600" b="1" spc="-10" dirty="0"/>
              <a:t>Examples</a:t>
            </a:r>
            <a:r>
              <a:rPr sz="2600" spc="-10" dirty="0"/>
              <a:t>:</a:t>
            </a:r>
            <a:endParaRPr sz="2600"/>
          </a:p>
          <a:p>
            <a:pPr marL="827405" indent="-342900">
              <a:spcBef>
                <a:spcPts val="35"/>
              </a:spcBef>
              <a:buSzPct val="83720"/>
              <a:buFont typeface="Arial MT"/>
              <a:buChar char="•"/>
              <a:tabLst>
                <a:tab pos="827405" algn="l"/>
              </a:tabLst>
            </a:pPr>
            <a:r>
              <a:rPr sz="2150" b="1" dirty="0"/>
              <a:t>Production</a:t>
            </a:r>
            <a:r>
              <a:rPr sz="2150" b="1" spc="100" dirty="0"/>
              <a:t> </a:t>
            </a:r>
            <a:r>
              <a:rPr sz="2150" b="1" dirty="0"/>
              <a:t>Planning:</a:t>
            </a:r>
            <a:r>
              <a:rPr sz="2150" b="1" spc="90" dirty="0"/>
              <a:t> </a:t>
            </a:r>
            <a:r>
              <a:rPr sz="2150" dirty="0"/>
              <a:t>Identify</a:t>
            </a:r>
            <a:r>
              <a:rPr sz="2150" spc="150" dirty="0"/>
              <a:t> </a:t>
            </a:r>
            <a:r>
              <a:rPr sz="2150" dirty="0"/>
              <a:t>top-performing</a:t>
            </a:r>
            <a:r>
              <a:rPr sz="2150" spc="185" dirty="0"/>
              <a:t> </a:t>
            </a:r>
            <a:r>
              <a:rPr sz="2150" dirty="0"/>
              <a:t>genres,</a:t>
            </a:r>
            <a:r>
              <a:rPr sz="2150" spc="135" dirty="0"/>
              <a:t> </a:t>
            </a:r>
            <a:r>
              <a:rPr sz="2150" dirty="0"/>
              <a:t>directors,</a:t>
            </a:r>
            <a:r>
              <a:rPr sz="2150" spc="140" dirty="0"/>
              <a:t> </a:t>
            </a:r>
            <a:r>
              <a:rPr sz="2150" dirty="0"/>
              <a:t>and</a:t>
            </a:r>
            <a:r>
              <a:rPr sz="2150" spc="135" dirty="0"/>
              <a:t> </a:t>
            </a:r>
            <a:r>
              <a:rPr sz="2150" spc="-10" dirty="0"/>
              <a:t>actors.</a:t>
            </a:r>
            <a:endParaRPr sz="2150"/>
          </a:p>
          <a:p>
            <a:pPr marL="827405" indent="-342900">
              <a:lnSpc>
                <a:spcPts val="2570"/>
              </a:lnSpc>
              <a:spcBef>
                <a:spcPts val="50"/>
              </a:spcBef>
              <a:buSzPct val="83720"/>
              <a:buFont typeface="Arial MT"/>
              <a:buChar char="•"/>
              <a:tabLst>
                <a:tab pos="827405" algn="l"/>
              </a:tabLst>
            </a:pPr>
            <a:r>
              <a:rPr sz="2150" b="1" dirty="0"/>
              <a:t>Revenue</a:t>
            </a:r>
            <a:r>
              <a:rPr sz="2150" b="1" spc="135" dirty="0"/>
              <a:t> </a:t>
            </a:r>
            <a:r>
              <a:rPr sz="2150" b="1" dirty="0"/>
              <a:t>Forecasting:</a:t>
            </a:r>
            <a:r>
              <a:rPr sz="2150" b="1" spc="70" dirty="0"/>
              <a:t> </a:t>
            </a:r>
            <a:r>
              <a:rPr sz="2150" dirty="0"/>
              <a:t>Predict</a:t>
            </a:r>
            <a:r>
              <a:rPr sz="2150" spc="120" dirty="0"/>
              <a:t> </a:t>
            </a:r>
            <a:r>
              <a:rPr sz="2150" dirty="0"/>
              <a:t>potential</a:t>
            </a:r>
            <a:r>
              <a:rPr sz="2150" spc="45" dirty="0"/>
              <a:t> </a:t>
            </a:r>
            <a:r>
              <a:rPr sz="2150" dirty="0"/>
              <a:t>box</a:t>
            </a:r>
            <a:r>
              <a:rPr sz="2150" spc="130" dirty="0"/>
              <a:t> </a:t>
            </a:r>
            <a:r>
              <a:rPr sz="2150" dirty="0"/>
              <a:t>office</a:t>
            </a:r>
            <a:r>
              <a:rPr sz="2150" spc="65" dirty="0"/>
              <a:t> </a:t>
            </a:r>
            <a:r>
              <a:rPr sz="2150" dirty="0"/>
              <a:t>success</a:t>
            </a:r>
            <a:r>
              <a:rPr sz="2150" spc="70" dirty="0"/>
              <a:t> </a:t>
            </a:r>
            <a:r>
              <a:rPr sz="2150" dirty="0"/>
              <a:t>using</a:t>
            </a:r>
            <a:r>
              <a:rPr sz="2150" spc="125" dirty="0"/>
              <a:t> </a:t>
            </a:r>
            <a:r>
              <a:rPr sz="2150" dirty="0"/>
              <a:t>past</a:t>
            </a:r>
            <a:r>
              <a:rPr sz="2150" spc="114" dirty="0"/>
              <a:t> </a:t>
            </a:r>
            <a:r>
              <a:rPr sz="2150" spc="-10" dirty="0"/>
              <a:t>trends.</a:t>
            </a:r>
            <a:endParaRPr sz="2150"/>
          </a:p>
          <a:p>
            <a:pPr marL="827405" indent="-342900">
              <a:lnSpc>
                <a:spcPts val="2570"/>
              </a:lnSpc>
              <a:buSzPct val="83720"/>
              <a:buFont typeface="Arial MT"/>
              <a:buChar char="•"/>
              <a:tabLst>
                <a:tab pos="827405" algn="l"/>
              </a:tabLst>
            </a:pPr>
            <a:r>
              <a:rPr sz="2150" b="1" dirty="0"/>
              <a:t>Audience</a:t>
            </a:r>
            <a:r>
              <a:rPr sz="2150" b="1" spc="135" dirty="0"/>
              <a:t> </a:t>
            </a:r>
            <a:r>
              <a:rPr sz="2150" b="1" dirty="0"/>
              <a:t>Insights:</a:t>
            </a:r>
            <a:r>
              <a:rPr sz="2150" b="1" spc="120" dirty="0"/>
              <a:t> </a:t>
            </a:r>
            <a:r>
              <a:rPr sz="2150" dirty="0"/>
              <a:t>Analyze</a:t>
            </a:r>
            <a:r>
              <a:rPr sz="2150" spc="70" dirty="0"/>
              <a:t> </a:t>
            </a:r>
            <a:r>
              <a:rPr sz="2150" dirty="0"/>
              <a:t>ratings</a:t>
            </a:r>
            <a:r>
              <a:rPr sz="2150" spc="80" dirty="0"/>
              <a:t> </a:t>
            </a:r>
            <a:r>
              <a:rPr sz="2150" dirty="0"/>
              <a:t>and</a:t>
            </a:r>
            <a:r>
              <a:rPr sz="2150" spc="90" dirty="0"/>
              <a:t> </a:t>
            </a:r>
            <a:r>
              <a:rPr sz="2150" dirty="0"/>
              <a:t>votes</a:t>
            </a:r>
            <a:r>
              <a:rPr sz="2150" spc="80" dirty="0"/>
              <a:t> </a:t>
            </a:r>
            <a:r>
              <a:rPr sz="2150" dirty="0"/>
              <a:t>to</a:t>
            </a:r>
            <a:r>
              <a:rPr sz="2150" spc="80" dirty="0"/>
              <a:t> </a:t>
            </a:r>
            <a:r>
              <a:rPr sz="2150" dirty="0"/>
              <a:t>understand</a:t>
            </a:r>
            <a:r>
              <a:rPr sz="2150" spc="85" dirty="0"/>
              <a:t> </a:t>
            </a:r>
            <a:r>
              <a:rPr sz="2150" dirty="0"/>
              <a:t>viewer</a:t>
            </a:r>
            <a:r>
              <a:rPr sz="2150" spc="100" dirty="0"/>
              <a:t> </a:t>
            </a:r>
            <a:r>
              <a:rPr sz="2150" spc="-10" dirty="0"/>
              <a:t>preferences.</a:t>
            </a:r>
            <a:endParaRPr sz="2150"/>
          </a:p>
          <a:p>
            <a:pPr marL="827405" marR="471170" indent="-342900">
              <a:lnSpc>
                <a:spcPts val="2100"/>
              </a:lnSpc>
              <a:spcBef>
                <a:spcPts val="515"/>
              </a:spcBef>
              <a:buSzPct val="83720"/>
              <a:buFont typeface="Arial MT"/>
              <a:buChar char="•"/>
              <a:tabLst>
                <a:tab pos="827405" algn="l"/>
              </a:tabLst>
            </a:pPr>
            <a:r>
              <a:rPr sz="2150" b="1" dirty="0"/>
              <a:t>Marketing</a:t>
            </a:r>
            <a:r>
              <a:rPr sz="2150" b="1" spc="55" dirty="0"/>
              <a:t> </a:t>
            </a:r>
            <a:r>
              <a:rPr sz="2150" b="1" dirty="0"/>
              <a:t>Strategy:</a:t>
            </a:r>
            <a:r>
              <a:rPr sz="2150" b="1" spc="90" dirty="0"/>
              <a:t> </a:t>
            </a:r>
            <a:r>
              <a:rPr sz="2150" dirty="0"/>
              <a:t>Optimize</a:t>
            </a:r>
            <a:r>
              <a:rPr sz="2150" spc="180" dirty="0"/>
              <a:t> </a:t>
            </a:r>
            <a:r>
              <a:rPr sz="2150" dirty="0"/>
              <a:t>promotions</a:t>
            </a:r>
            <a:r>
              <a:rPr sz="2150" spc="105" dirty="0"/>
              <a:t> </a:t>
            </a:r>
            <a:r>
              <a:rPr sz="2150" dirty="0"/>
              <a:t>based</a:t>
            </a:r>
            <a:r>
              <a:rPr sz="2150" spc="114" dirty="0"/>
              <a:t> </a:t>
            </a:r>
            <a:r>
              <a:rPr sz="2150" dirty="0"/>
              <a:t>on</a:t>
            </a:r>
            <a:r>
              <a:rPr sz="2150" spc="114" dirty="0"/>
              <a:t> </a:t>
            </a:r>
            <a:r>
              <a:rPr sz="2150" dirty="0"/>
              <a:t>genre,</a:t>
            </a:r>
            <a:r>
              <a:rPr sz="2150" spc="105" dirty="0"/>
              <a:t> </a:t>
            </a:r>
            <a:r>
              <a:rPr sz="2150" dirty="0"/>
              <a:t>rating,</a:t>
            </a:r>
            <a:r>
              <a:rPr sz="2150" spc="110" dirty="0"/>
              <a:t> </a:t>
            </a:r>
            <a:r>
              <a:rPr sz="2150" dirty="0"/>
              <a:t>and</a:t>
            </a:r>
            <a:r>
              <a:rPr sz="2150" spc="114" dirty="0"/>
              <a:t> </a:t>
            </a:r>
            <a:r>
              <a:rPr sz="2150" spc="-10" dirty="0"/>
              <a:t>release timing.</a:t>
            </a:r>
            <a:endParaRPr sz="215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181" y="252350"/>
            <a:ext cx="7343298" cy="1054198"/>
          </a:xfrm>
          <a:prstGeom prst="rect">
            <a:avLst/>
          </a:prstGeom>
        </p:spPr>
        <p:txBody>
          <a:bodyPr vert="horz" wrap="square" lIns="0" tIns="373443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dirty="0"/>
              <a:t>2.</a:t>
            </a:r>
            <a:r>
              <a:rPr spc="-60" dirty="0"/>
              <a:t> </a:t>
            </a:r>
            <a:r>
              <a:rPr dirty="0"/>
              <a:t>Objective</a:t>
            </a:r>
            <a:r>
              <a:rPr spc="-60" dirty="0"/>
              <a:t> </a:t>
            </a:r>
            <a:r>
              <a:rPr dirty="0"/>
              <a:t>of</a:t>
            </a:r>
            <a:r>
              <a:rPr spc="-60" dirty="0"/>
              <a:t> </a:t>
            </a:r>
            <a:r>
              <a:rPr dirty="0"/>
              <a:t>the</a:t>
            </a:r>
            <a:r>
              <a:rPr spc="-60" dirty="0"/>
              <a:t> </a:t>
            </a:r>
            <a:r>
              <a:rPr spc="-10" dirty="0"/>
              <a:t>Project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32193" y="1733785"/>
            <a:ext cx="10793095" cy="3743325"/>
          </a:xfrm>
          <a:prstGeom prst="rect">
            <a:avLst/>
          </a:prstGeom>
        </p:spPr>
        <p:txBody>
          <a:bodyPr vert="horz" wrap="square" lIns="0" tIns="210185" rIns="0" bIns="0" rtlCol="0">
            <a:spAutoFit/>
          </a:bodyPr>
          <a:lstStyle/>
          <a:p>
            <a:pPr marL="12700">
              <a:spcBef>
                <a:spcPts val="1655"/>
              </a:spcBef>
            </a:pPr>
            <a:r>
              <a:rPr sz="2750" b="1" dirty="0">
                <a:latin typeface="Calibri"/>
                <a:cs typeface="Calibri"/>
              </a:rPr>
              <a:t>Key</a:t>
            </a:r>
            <a:r>
              <a:rPr sz="2750" b="1" spc="100" dirty="0">
                <a:latin typeface="Calibri"/>
                <a:cs typeface="Calibri"/>
              </a:rPr>
              <a:t> </a:t>
            </a:r>
            <a:r>
              <a:rPr sz="2750" b="1" spc="-10" dirty="0">
                <a:latin typeface="Calibri"/>
                <a:cs typeface="Calibri"/>
              </a:rPr>
              <a:t>goals:</a:t>
            </a:r>
            <a:endParaRPr sz="2750" dirty="0">
              <a:latin typeface="Calibri"/>
              <a:cs typeface="Calibri"/>
            </a:endParaRPr>
          </a:p>
          <a:p>
            <a:pPr marL="311785" indent="-114300">
              <a:spcBef>
                <a:spcPts val="1335"/>
              </a:spcBef>
              <a:buSzPct val="95833"/>
              <a:buChar char="•"/>
              <a:tabLst>
                <a:tab pos="311785" algn="l"/>
              </a:tabLst>
            </a:pPr>
            <a:r>
              <a:rPr sz="2400" dirty="0">
                <a:latin typeface="Arial MT"/>
                <a:cs typeface="Arial MT"/>
              </a:rPr>
              <a:t>To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compare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different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genres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identify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which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ones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perform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best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in</a:t>
            </a:r>
            <a:endParaRPr sz="2400" dirty="0">
              <a:latin typeface="Arial MT"/>
              <a:cs typeface="Arial MT"/>
            </a:endParaRPr>
          </a:p>
          <a:p>
            <a:pPr marL="205740">
              <a:lnSpc>
                <a:spcPts val="2865"/>
              </a:lnSpc>
              <a:spcBef>
                <a:spcPts val="45"/>
              </a:spcBef>
            </a:pPr>
            <a:r>
              <a:rPr sz="2400" dirty="0">
                <a:latin typeface="Arial MT"/>
                <a:cs typeface="Arial MT"/>
              </a:rPr>
              <a:t>revenue,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IMDb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rating</a:t>
            </a:r>
            <a:r>
              <a:rPr sz="2400" spc="-10" dirty="0">
                <a:latin typeface="Arial MT"/>
                <a:cs typeface="Arial MT"/>
              </a:rPr>
              <a:t>.</a:t>
            </a:r>
            <a:endParaRPr sz="2400" dirty="0">
              <a:latin typeface="Arial MT"/>
              <a:cs typeface="Arial MT"/>
            </a:endParaRPr>
          </a:p>
          <a:p>
            <a:pPr marL="205740" marR="837565" indent="-8255">
              <a:lnSpc>
                <a:spcPts val="2860"/>
              </a:lnSpc>
              <a:spcBef>
                <a:spcPts val="100"/>
              </a:spcBef>
              <a:buSzPct val="95833"/>
              <a:buChar char="•"/>
              <a:tabLst>
                <a:tab pos="311785" algn="l"/>
              </a:tabLst>
            </a:pPr>
            <a:r>
              <a:rPr sz="2400" dirty="0">
                <a:latin typeface="Arial MT"/>
                <a:cs typeface="Arial MT"/>
              </a:rPr>
              <a:t>	To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evaluate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top-</a:t>
            </a:r>
            <a:r>
              <a:rPr sz="2400" dirty="0">
                <a:latin typeface="Arial MT"/>
                <a:cs typeface="Arial MT"/>
              </a:rPr>
              <a:t>performing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directors,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actors,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movies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contributing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to </a:t>
            </a:r>
            <a:r>
              <a:rPr sz="2400" dirty="0">
                <a:latin typeface="Arial MT"/>
                <a:cs typeface="Arial MT"/>
              </a:rPr>
              <a:t>overall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box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office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success.</a:t>
            </a:r>
            <a:endParaRPr sz="2400" dirty="0">
              <a:latin typeface="Arial MT"/>
              <a:cs typeface="Arial MT"/>
            </a:endParaRPr>
          </a:p>
          <a:p>
            <a:pPr marL="311785" indent="-114300">
              <a:lnSpc>
                <a:spcPts val="2820"/>
              </a:lnSpc>
              <a:buSzPct val="95833"/>
              <a:buChar char="•"/>
              <a:tabLst>
                <a:tab pos="311785" algn="l"/>
              </a:tabLst>
            </a:pPr>
            <a:r>
              <a:rPr sz="2400" dirty="0">
                <a:latin typeface="Arial MT"/>
                <a:cs typeface="Arial MT"/>
              </a:rPr>
              <a:t>To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analyze movie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performance trends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over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years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terms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releases,</a:t>
            </a:r>
            <a:endParaRPr sz="2400" dirty="0">
              <a:latin typeface="Arial MT"/>
              <a:cs typeface="Arial MT"/>
            </a:endParaRPr>
          </a:p>
          <a:p>
            <a:pPr marL="205740">
              <a:lnSpc>
                <a:spcPts val="2865"/>
              </a:lnSpc>
            </a:pPr>
            <a:r>
              <a:rPr sz="2400" dirty="0">
                <a:latin typeface="Arial MT"/>
                <a:cs typeface="Arial MT"/>
              </a:rPr>
              <a:t>ratings,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votes,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box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office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revenue.</a:t>
            </a:r>
            <a:endParaRPr sz="2400" dirty="0">
              <a:latin typeface="Arial MT"/>
              <a:cs typeface="Arial MT"/>
            </a:endParaRPr>
          </a:p>
          <a:p>
            <a:pPr marL="311785" indent="-114300">
              <a:lnSpc>
                <a:spcPts val="2870"/>
              </a:lnSpc>
              <a:spcBef>
                <a:spcPts val="50"/>
              </a:spcBef>
              <a:buSzPct val="95833"/>
              <a:buChar char="•"/>
              <a:tabLst>
                <a:tab pos="311785" algn="l"/>
              </a:tabLst>
            </a:pPr>
            <a:r>
              <a:rPr sz="2400" dirty="0">
                <a:latin typeface="Arial MT"/>
                <a:cs typeface="Arial MT"/>
              </a:rPr>
              <a:t>To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create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 interactive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Power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BI dashboard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provides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actionable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insights</a:t>
            </a:r>
            <a:endParaRPr sz="2400" dirty="0">
              <a:latin typeface="Arial MT"/>
              <a:cs typeface="Arial MT"/>
            </a:endParaRPr>
          </a:p>
          <a:p>
            <a:pPr marL="205740">
              <a:lnSpc>
                <a:spcPts val="2870"/>
              </a:lnSpc>
            </a:pP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data-</a:t>
            </a:r>
            <a:r>
              <a:rPr sz="2400" dirty="0">
                <a:latin typeface="Arial MT"/>
                <a:cs typeface="Arial MT"/>
              </a:rPr>
              <a:t>driven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decision-</a:t>
            </a:r>
            <a:r>
              <a:rPr sz="2400" dirty="0">
                <a:latin typeface="Arial MT"/>
                <a:cs typeface="Arial MT"/>
              </a:rPr>
              <a:t>making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film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industry.</a:t>
            </a:r>
            <a:endParaRPr sz="2400" dirty="0">
              <a:latin typeface="Arial MT"/>
              <a:cs typeface="Arial M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181" y="252350"/>
            <a:ext cx="7343298" cy="1054198"/>
          </a:xfrm>
          <a:prstGeom prst="rect">
            <a:avLst/>
          </a:prstGeom>
        </p:spPr>
        <p:txBody>
          <a:bodyPr vert="horz" wrap="square" lIns="0" tIns="373443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dirty="0"/>
              <a:t>3.</a:t>
            </a:r>
            <a:r>
              <a:rPr spc="-65" dirty="0"/>
              <a:t> </a:t>
            </a:r>
            <a:r>
              <a:rPr dirty="0"/>
              <a:t>Data</a:t>
            </a:r>
            <a:r>
              <a:rPr spc="-90" dirty="0"/>
              <a:t> </a:t>
            </a:r>
            <a:r>
              <a:rPr dirty="0"/>
              <a:t>Importing–</a:t>
            </a:r>
            <a:r>
              <a:rPr spc="-75" dirty="0"/>
              <a:t> </a:t>
            </a:r>
            <a:r>
              <a:rPr spc="-10" dirty="0"/>
              <a:t>Details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32192" y="1861502"/>
            <a:ext cx="7383780" cy="42608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r>
              <a:rPr sz="2600" b="1" dirty="0">
                <a:latin typeface="Calibri"/>
                <a:cs typeface="Calibri"/>
              </a:rPr>
              <a:t>Scraped</a:t>
            </a:r>
            <a:r>
              <a:rPr sz="2600" b="1" spc="-114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data</a:t>
            </a:r>
            <a:r>
              <a:rPr sz="2600" b="1" spc="-7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(Dataset</a:t>
            </a:r>
            <a:r>
              <a:rPr sz="2600" b="1" spc="-65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source):</a:t>
            </a:r>
            <a:r>
              <a:rPr sz="2600" b="1" spc="-4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Movie</a:t>
            </a:r>
            <a:r>
              <a:rPr sz="2600" b="1" spc="-100" dirty="0">
                <a:latin typeface="Calibri"/>
                <a:cs typeface="Calibri"/>
              </a:rPr>
              <a:t> </a:t>
            </a:r>
            <a:r>
              <a:rPr sz="2600" b="1" dirty="0">
                <a:latin typeface="Calibri"/>
                <a:cs typeface="Calibri"/>
              </a:rPr>
              <a:t>Dataset</a:t>
            </a:r>
            <a:r>
              <a:rPr sz="2600" b="1" spc="-70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(Given)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32193" y="2548193"/>
            <a:ext cx="8448675" cy="335284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spcBef>
                <a:spcPts val="125"/>
              </a:spcBef>
            </a:pPr>
            <a:endParaRPr lang="en-IN" sz="2600" dirty="0">
              <a:latin typeface="Calibri"/>
              <a:cs typeface="Calibri"/>
            </a:endParaRPr>
          </a:p>
          <a:p>
            <a:pPr marL="354965" indent="-342265">
              <a:lnSpc>
                <a:spcPts val="3025"/>
              </a:lnSpc>
              <a:spcBef>
                <a:spcPts val="35"/>
              </a:spcBef>
              <a:buSzPct val="69230"/>
              <a:buFont typeface="Arial MT"/>
              <a:buChar char="•"/>
              <a:tabLst>
                <a:tab pos="354965" algn="l"/>
              </a:tabLst>
            </a:pPr>
            <a:r>
              <a:rPr lang="en-IN" sz="2600" b="1" dirty="0">
                <a:latin typeface="Calibri"/>
                <a:cs typeface="Calibri"/>
              </a:rPr>
              <a:t>Process</a:t>
            </a:r>
            <a:r>
              <a:rPr lang="en-IN" sz="2600" b="1" spc="-50" dirty="0">
                <a:latin typeface="Calibri"/>
                <a:cs typeface="Calibri"/>
              </a:rPr>
              <a:t> </a:t>
            </a:r>
            <a:r>
              <a:rPr lang="en-IN" sz="2600" b="1" spc="-10" dirty="0">
                <a:latin typeface="Calibri"/>
                <a:cs typeface="Calibri"/>
              </a:rPr>
              <a:t>Followed</a:t>
            </a:r>
            <a:r>
              <a:rPr lang="en-IN" sz="2600" spc="-10" dirty="0">
                <a:latin typeface="Calibri"/>
                <a:cs typeface="Calibri"/>
              </a:rPr>
              <a:t>:</a:t>
            </a:r>
            <a:endParaRPr lang="en-IN" sz="2600" dirty="0">
              <a:latin typeface="Calibri"/>
              <a:cs typeface="Calibri"/>
            </a:endParaRPr>
          </a:p>
          <a:p>
            <a:pPr marL="812800" lvl="1" indent="-342900">
              <a:lnSpc>
                <a:spcPts val="2360"/>
              </a:lnSpc>
              <a:buSzPct val="83720"/>
              <a:buFont typeface="Arial MT"/>
              <a:buChar char="•"/>
              <a:tabLst>
                <a:tab pos="812800" algn="l"/>
              </a:tabLst>
            </a:pPr>
            <a:r>
              <a:rPr sz="2150" dirty="0">
                <a:latin typeface="Calibri"/>
                <a:cs typeface="Calibri"/>
              </a:rPr>
              <a:t>Collected</a:t>
            </a:r>
            <a:r>
              <a:rPr sz="2150" spc="9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movie</a:t>
            </a:r>
            <a:r>
              <a:rPr sz="2150" spc="8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data</a:t>
            </a:r>
            <a:r>
              <a:rPr sz="2150" spc="13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(ratings,</a:t>
            </a:r>
            <a:r>
              <a:rPr sz="2150" spc="10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revenue,</a:t>
            </a:r>
            <a:r>
              <a:rPr sz="2150" spc="10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genre,</a:t>
            </a:r>
            <a:r>
              <a:rPr sz="2150" spc="10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etc.)</a:t>
            </a:r>
            <a:endParaRPr sz="2150" dirty="0">
              <a:latin typeface="Calibri"/>
              <a:cs typeface="Calibri"/>
            </a:endParaRPr>
          </a:p>
          <a:p>
            <a:pPr marL="812800" lvl="1" indent="-342900">
              <a:lnSpc>
                <a:spcPts val="2330"/>
              </a:lnSpc>
              <a:buSzPct val="83720"/>
              <a:buFont typeface="Arial MT"/>
              <a:buChar char="•"/>
              <a:tabLst>
                <a:tab pos="812800" algn="l"/>
              </a:tabLst>
            </a:pPr>
            <a:r>
              <a:rPr sz="2150" dirty="0">
                <a:latin typeface="Calibri"/>
                <a:cs typeface="Calibri"/>
              </a:rPr>
              <a:t>Store</a:t>
            </a:r>
            <a:r>
              <a:rPr sz="2150" spc="4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into</a:t>
            </a:r>
            <a:r>
              <a:rPr sz="2150" spc="6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CSV/Excel.</a:t>
            </a:r>
            <a:endParaRPr sz="2150" dirty="0">
              <a:latin typeface="Calibri"/>
              <a:cs typeface="Calibri"/>
            </a:endParaRPr>
          </a:p>
          <a:p>
            <a:pPr marL="812800" lvl="1" indent="-342900">
              <a:lnSpc>
                <a:spcPts val="2365"/>
              </a:lnSpc>
              <a:buSzPct val="83720"/>
              <a:buFont typeface="Arial MT"/>
              <a:buChar char="•"/>
              <a:tabLst>
                <a:tab pos="812800" algn="l"/>
              </a:tabLst>
            </a:pPr>
            <a:r>
              <a:rPr sz="2150" dirty="0">
                <a:latin typeface="Calibri"/>
                <a:cs typeface="Calibri"/>
              </a:rPr>
              <a:t>Cleaned</a:t>
            </a:r>
            <a:r>
              <a:rPr sz="2150" spc="8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the</a:t>
            </a:r>
            <a:r>
              <a:rPr sz="2150" spc="15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data</a:t>
            </a:r>
            <a:r>
              <a:rPr sz="2150" spc="3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by</a:t>
            </a:r>
            <a:r>
              <a:rPr sz="2150" spc="10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removing</a:t>
            </a:r>
            <a:r>
              <a:rPr sz="2150" spc="5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nulls</a:t>
            </a:r>
            <a:r>
              <a:rPr sz="2150" spc="8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and</a:t>
            </a:r>
            <a:r>
              <a:rPr sz="2150" spc="8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fixing</a:t>
            </a:r>
            <a:r>
              <a:rPr sz="2150" spc="135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errors.</a:t>
            </a:r>
            <a:endParaRPr sz="2150" dirty="0">
              <a:latin typeface="Calibri"/>
              <a:cs typeface="Calibri"/>
            </a:endParaRPr>
          </a:p>
          <a:p>
            <a:pPr marL="812800" lvl="1" indent="-342900">
              <a:lnSpc>
                <a:spcPts val="2495"/>
              </a:lnSpc>
              <a:buSzPct val="83720"/>
              <a:buFont typeface="Arial MT"/>
              <a:buChar char="•"/>
              <a:tabLst>
                <a:tab pos="812800" algn="l"/>
              </a:tabLst>
            </a:pPr>
            <a:r>
              <a:rPr sz="2150" dirty="0">
                <a:latin typeface="Calibri"/>
                <a:cs typeface="Calibri"/>
              </a:rPr>
              <a:t>Loaded</a:t>
            </a:r>
            <a:r>
              <a:rPr sz="2150" spc="9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the</a:t>
            </a:r>
            <a:r>
              <a:rPr sz="2150" spc="8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data</a:t>
            </a:r>
            <a:r>
              <a:rPr sz="2150" spc="4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into</a:t>
            </a:r>
            <a:r>
              <a:rPr sz="2150" spc="9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Power</a:t>
            </a:r>
            <a:r>
              <a:rPr sz="2150" spc="3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BI</a:t>
            </a:r>
            <a:r>
              <a:rPr sz="2150" spc="9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for</a:t>
            </a:r>
            <a:r>
              <a:rPr sz="2150" spc="11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analysis</a:t>
            </a:r>
            <a:r>
              <a:rPr sz="2150" spc="9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and</a:t>
            </a:r>
            <a:r>
              <a:rPr sz="2150" spc="100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visualization.</a:t>
            </a:r>
            <a:endParaRPr sz="2150" dirty="0">
              <a:latin typeface="Calibri"/>
              <a:cs typeface="Calibri"/>
            </a:endParaRPr>
          </a:p>
          <a:p>
            <a:pPr marL="354965" indent="-342265">
              <a:lnSpc>
                <a:spcPts val="2990"/>
              </a:lnSpc>
              <a:spcBef>
                <a:spcPts val="45"/>
              </a:spcBef>
              <a:buSzPct val="69230"/>
              <a:buFont typeface="Arial MT"/>
              <a:buChar char="•"/>
              <a:tabLst>
                <a:tab pos="354965" algn="l"/>
              </a:tabLst>
            </a:pPr>
            <a:r>
              <a:rPr sz="2600" b="1" dirty="0">
                <a:latin typeface="Calibri"/>
                <a:cs typeface="Calibri"/>
              </a:rPr>
              <a:t>Challenges</a:t>
            </a:r>
            <a:r>
              <a:rPr sz="2600" b="1" spc="-90" dirty="0">
                <a:latin typeface="Calibri"/>
                <a:cs typeface="Calibri"/>
              </a:rPr>
              <a:t> </a:t>
            </a:r>
            <a:r>
              <a:rPr sz="2600" b="1" spc="-10" dirty="0">
                <a:latin typeface="Calibri"/>
                <a:cs typeface="Calibri"/>
              </a:rPr>
              <a:t>Faced</a:t>
            </a:r>
            <a:r>
              <a:rPr sz="2600" spc="-10" dirty="0">
                <a:latin typeface="Calibri"/>
                <a:cs typeface="Calibri"/>
              </a:rPr>
              <a:t>:</a:t>
            </a:r>
            <a:endParaRPr sz="2600" dirty="0">
              <a:latin typeface="Calibri"/>
              <a:cs typeface="Calibri"/>
            </a:endParaRPr>
          </a:p>
          <a:p>
            <a:pPr marL="812800" lvl="1" indent="-342900">
              <a:lnSpc>
                <a:spcPts val="2360"/>
              </a:lnSpc>
              <a:buSzPct val="83720"/>
              <a:buFont typeface="Arial MT"/>
              <a:buChar char="•"/>
              <a:tabLst>
                <a:tab pos="812800" algn="l"/>
              </a:tabLst>
            </a:pPr>
            <a:r>
              <a:rPr sz="2150" dirty="0">
                <a:latin typeface="Calibri"/>
                <a:cs typeface="Calibri"/>
              </a:rPr>
              <a:t>Missing</a:t>
            </a:r>
            <a:r>
              <a:rPr sz="2150" spc="4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or</a:t>
            </a:r>
            <a:r>
              <a:rPr sz="2150" spc="8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incomplete</a:t>
            </a:r>
            <a:r>
              <a:rPr sz="2150" spc="14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data</a:t>
            </a:r>
            <a:r>
              <a:rPr sz="2150" spc="10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for</a:t>
            </a:r>
            <a:r>
              <a:rPr sz="2150" spc="8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some</a:t>
            </a:r>
            <a:r>
              <a:rPr sz="2150" spc="140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movies.</a:t>
            </a:r>
            <a:endParaRPr sz="2150" dirty="0">
              <a:latin typeface="Calibri"/>
              <a:cs typeface="Calibri"/>
            </a:endParaRPr>
          </a:p>
          <a:p>
            <a:pPr marL="812800" lvl="1" indent="-342900">
              <a:lnSpc>
                <a:spcPts val="2365"/>
              </a:lnSpc>
              <a:buSzPct val="83720"/>
              <a:buFont typeface="Arial MT"/>
              <a:buChar char="•"/>
              <a:tabLst>
                <a:tab pos="812800" algn="l"/>
              </a:tabLst>
            </a:pPr>
            <a:r>
              <a:rPr sz="2150" dirty="0">
                <a:latin typeface="Calibri"/>
                <a:cs typeface="Calibri"/>
              </a:rPr>
              <a:t>Different</a:t>
            </a:r>
            <a:r>
              <a:rPr sz="2150" spc="8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data</a:t>
            </a:r>
            <a:r>
              <a:rPr sz="2150" spc="16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formats</a:t>
            </a:r>
            <a:r>
              <a:rPr sz="2150" spc="12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(dates,</a:t>
            </a:r>
            <a:r>
              <a:rPr sz="2150" spc="13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numbers,</a:t>
            </a:r>
            <a:r>
              <a:rPr sz="2150" spc="130" dirty="0">
                <a:latin typeface="Calibri"/>
                <a:cs typeface="Calibri"/>
              </a:rPr>
              <a:t> </a:t>
            </a:r>
            <a:r>
              <a:rPr sz="2150" spc="-10" dirty="0">
                <a:latin typeface="Calibri"/>
                <a:cs typeface="Calibri"/>
              </a:rPr>
              <a:t>ratings).</a:t>
            </a:r>
            <a:endParaRPr sz="2150" dirty="0">
              <a:latin typeface="Calibri"/>
              <a:cs typeface="Calibri"/>
            </a:endParaRPr>
          </a:p>
          <a:p>
            <a:pPr marL="812800" lvl="1" indent="-342900">
              <a:lnSpc>
                <a:spcPts val="2455"/>
              </a:lnSpc>
              <a:buSzPct val="83720"/>
              <a:buFont typeface="Arial MT"/>
              <a:buChar char="•"/>
              <a:tabLst>
                <a:tab pos="812800" algn="l"/>
              </a:tabLst>
            </a:pPr>
            <a:r>
              <a:rPr sz="2150" dirty="0">
                <a:latin typeface="Calibri"/>
                <a:cs typeface="Calibri"/>
              </a:rPr>
              <a:t>Managing</a:t>
            </a:r>
            <a:r>
              <a:rPr sz="2150" spc="140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large</a:t>
            </a:r>
            <a:r>
              <a:rPr sz="2150" spc="16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data</a:t>
            </a:r>
            <a:r>
              <a:rPr sz="2150" spc="12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and</a:t>
            </a:r>
            <a:r>
              <a:rPr sz="2150" spc="9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creating</a:t>
            </a:r>
            <a:r>
              <a:rPr sz="2150" spc="6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correct</a:t>
            </a:r>
            <a:r>
              <a:rPr sz="2150" spc="5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relationships</a:t>
            </a:r>
            <a:r>
              <a:rPr sz="2150" spc="8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in</a:t>
            </a:r>
            <a:r>
              <a:rPr sz="2150" spc="95" dirty="0">
                <a:latin typeface="Calibri"/>
                <a:cs typeface="Calibri"/>
              </a:rPr>
              <a:t> </a:t>
            </a:r>
            <a:r>
              <a:rPr sz="2150" dirty="0">
                <a:latin typeface="Calibri"/>
                <a:cs typeface="Calibri"/>
              </a:rPr>
              <a:t>Power</a:t>
            </a:r>
            <a:r>
              <a:rPr sz="2150" spc="105" dirty="0">
                <a:latin typeface="Calibri"/>
                <a:cs typeface="Calibri"/>
              </a:rPr>
              <a:t> </a:t>
            </a:r>
            <a:r>
              <a:rPr sz="2150" spc="-25" dirty="0">
                <a:latin typeface="Calibri"/>
                <a:cs typeface="Calibri"/>
              </a:rPr>
              <a:t>BI.</a:t>
            </a:r>
            <a:endParaRPr sz="2150" dirty="0">
              <a:latin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181" y="252350"/>
            <a:ext cx="7343298" cy="1054198"/>
          </a:xfrm>
          <a:prstGeom prst="rect">
            <a:avLst/>
          </a:prstGeom>
        </p:spPr>
        <p:txBody>
          <a:bodyPr vert="horz" wrap="square" lIns="0" tIns="373443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dirty="0"/>
              <a:t>4.</a:t>
            </a:r>
            <a:r>
              <a:rPr spc="-55" dirty="0"/>
              <a:t> </a:t>
            </a:r>
            <a:r>
              <a:rPr dirty="0"/>
              <a:t>Summary</a:t>
            </a:r>
            <a:r>
              <a:rPr spc="-75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dirty="0"/>
              <a:t>the</a:t>
            </a:r>
            <a:r>
              <a:rPr spc="-55" dirty="0"/>
              <a:t> </a:t>
            </a:r>
            <a:r>
              <a:rPr spc="-20" dirty="0"/>
              <a:t>Data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98868" y="1918337"/>
            <a:ext cx="9956165" cy="326326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355600" marR="108585" indent="-343535">
              <a:lnSpc>
                <a:spcPts val="3000"/>
              </a:lnSpc>
              <a:spcBef>
                <a:spcPts val="480"/>
              </a:spcBef>
              <a:buSzPct val="65454"/>
              <a:buFont typeface="Arial MT"/>
              <a:buChar char="•"/>
              <a:tabLst>
                <a:tab pos="355600" algn="l"/>
              </a:tabLst>
            </a:pPr>
            <a:r>
              <a:rPr sz="2750" b="1" dirty="0">
                <a:latin typeface="Calibri"/>
                <a:cs typeface="Calibri"/>
              </a:rPr>
              <a:t>Columns</a:t>
            </a:r>
            <a:r>
              <a:rPr sz="2750" dirty="0">
                <a:latin typeface="Calibri"/>
                <a:cs typeface="Calibri"/>
              </a:rPr>
              <a:t>:</a:t>
            </a:r>
            <a:r>
              <a:rPr sz="2750" spc="14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Rank,</a:t>
            </a:r>
            <a:r>
              <a:rPr sz="2750" spc="13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Title,</a:t>
            </a:r>
            <a:r>
              <a:rPr sz="2750" spc="13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Genre,</a:t>
            </a:r>
            <a:r>
              <a:rPr sz="2750" spc="13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Description,</a:t>
            </a:r>
            <a:r>
              <a:rPr sz="2750" spc="12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Director,</a:t>
            </a:r>
            <a:r>
              <a:rPr sz="2750" spc="5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Actors,</a:t>
            </a:r>
            <a:r>
              <a:rPr sz="2750" spc="130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Year, </a:t>
            </a:r>
            <a:r>
              <a:rPr sz="2750" dirty="0">
                <a:latin typeface="Calibri"/>
                <a:cs typeface="Calibri"/>
              </a:rPr>
              <a:t>Runtime</a:t>
            </a:r>
            <a:r>
              <a:rPr sz="2750" spc="8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(Minutes),</a:t>
            </a:r>
            <a:r>
              <a:rPr sz="2750" spc="11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Rating,</a:t>
            </a:r>
            <a:r>
              <a:rPr sz="2750" spc="11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Votes,</a:t>
            </a:r>
            <a:r>
              <a:rPr sz="2750" spc="11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Revenue</a:t>
            </a:r>
            <a:r>
              <a:rPr sz="2750" spc="9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(Millions),</a:t>
            </a:r>
            <a:r>
              <a:rPr sz="2750" spc="254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Metascore.</a:t>
            </a:r>
            <a:endParaRPr sz="2750" dirty="0">
              <a:latin typeface="Calibri"/>
              <a:cs typeface="Calibri"/>
            </a:endParaRPr>
          </a:p>
          <a:p>
            <a:pPr marL="355600" indent="-342900">
              <a:spcBef>
                <a:spcPts val="710"/>
              </a:spcBef>
              <a:buSzPct val="65454"/>
              <a:buFont typeface="Arial MT"/>
              <a:buChar char="•"/>
              <a:tabLst>
                <a:tab pos="355600" algn="l"/>
              </a:tabLst>
            </a:pPr>
            <a:r>
              <a:rPr sz="2750" b="1" dirty="0">
                <a:latin typeface="Calibri"/>
                <a:cs typeface="Calibri"/>
              </a:rPr>
              <a:t>Size</a:t>
            </a:r>
            <a:r>
              <a:rPr sz="2750" dirty="0">
                <a:latin typeface="Calibri"/>
                <a:cs typeface="Calibri"/>
              </a:rPr>
              <a:t>:</a:t>
            </a:r>
            <a:r>
              <a:rPr sz="2750" spc="6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Rows</a:t>
            </a:r>
            <a:r>
              <a:rPr sz="2750" spc="6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=</a:t>
            </a:r>
            <a:r>
              <a:rPr sz="2750" spc="6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around</a:t>
            </a:r>
            <a:r>
              <a:rPr sz="2750" spc="6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1,000</a:t>
            </a:r>
            <a:r>
              <a:rPr sz="2750" spc="14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movies;</a:t>
            </a:r>
            <a:r>
              <a:rPr sz="2750" spc="3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Columns</a:t>
            </a:r>
            <a:r>
              <a:rPr sz="2750" spc="6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=</a:t>
            </a:r>
            <a:r>
              <a:rPr sz="2750" spc="140" dirty="0">
                <a:latin typeface="Calibri"/>
                <a:cs typeface="Calibri"/>
              </a:rPr>
              <a:t> </a:t>
            </a:r>
            <a:r>
              <a:rPr sz="2750" spc="-25" dirty="0">
                <a:latin typeface="Calibri"/>
                <a:cs typeface="Calibri"/>
              </a:rPr>
              <a:t>12.</a:t>
            </a:r>
            <a:endParaRPr sz="2750" dirty="0">
              <a:latin typeface="Calibri"/>
              <a:cs typeface="Calibri"/>
            </a:endParaRPr>
          </a:p>
          <a:p>
            <a:pPr marL="355600" indent="-342900">
              <a:spcBef>
                <a:spcPts val="680"/>
              </a:spcBef>
              <a:buSzPct val="65454"/>
              <a:buFont typeface="Arial MT"/>
              <a:buChar char="•"/>
              <a:tabLst>
                <a:tab pos="355600" algn="l"/>
              </a:tabLst>
            </a:pPr>
            <a:r>
              <a:rPr sz="2750" b="1" dirty="0">
                <a:latin typeface="Calibri"/>
                <a:cs typeface="Calibri"/>
              </a:rPr>
              <a:t>Date</a:t>
            </a:r>
            <a:r>
              <a:rPr sz="2750" b="1" spc="65" dirty="0">
                <a:latin typeface="Calibri"/>
                <a:cs typeface="Calibri"/>
              </a:rPr>
              <a:t> </a:t>
            </a:r>
            <a:r>
              <a:rPr sz="2750" b="1" dirty="0">
                <a:latin typeface="Calibri"/>
                <a:cs typeface="Calibri"/>
              </a:rPr>
              <a:t>Range</a:t>
            </a:r>
            <a:r>
              <a:rPr sz="2750" dirty="0">
                <a:latin typeface="Calibri"/>
                <a:cs typeface="Calibri"/>
              </a:rPr>
              <a:t>:</a:t>
            </a:r>
            <a:r>
              <a:rPr sz="2750" spc="125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200</a:t>
            </a:r>
            <a:r>
              <a:rPr lang="en-US" sz="2750" spc="-10" dirty="0">
                <a:latin typeface="Calibri"/>
                <a:cs typeface="Calibri"/>
              </a:rPr>
              <a:t>6</a:t>
            </a:r>
            <a:r>
              <a:rPr sz="2750" spc="-10" dirty="0">
                <a:latin typeface="Calibri"/>
                <a:cs typeface="Calibri"/>
              </a:rPr>
              <a:t>–20</a:t>
            </a:r>
            <a:r>
              <a:rPr lang="en-US" sz="2750" spc="-10" dirty="0">
                <a:latin typeface="Calibri"/>
                <a:cs typeface="Calibri"/>
              </a:rPr>
              <a:t>16</a:t>
            </a:r>
            <a:r>
              <a:rPr sz="2750" spc="-10" dirty="0">
                <a:latin typeface="Calibri"/>
                <a:cs typeface="Calibri"/>
              </a:rPr>
              <a:t>.</a:t>
            </a:r>
            <a:endParaRPr sz="2750" dirty="0">
              <a:latin typeface="Calibri"/>
              <a:cs typeface="Calibri"/>
            </a:endParaRPr>
          </a:p>
          <a:p>
            <a:pPr marL="355600" indent="-342900">
              <a:spcBef>
                <a:spcPts val="755"/>
              </a:spcBef>
              <a:buSzPct val="65454"/>
              <a:buFont typeface="Arial MT"/>
              <a:buChar char="•"/>
              <a:tabLst>
                <a:tab pos="355600" algn="l"/>
              </a:tabLst>
            </a:pPr>
            <a:r>
              <a:rPr sz="2750" b="1" dirty="0">
                <a:latin typeface="Calibri"/>
                <a:cs typeface="Calibri"/>
              </a:rPr>
              <a:t>Granularity</a:t>
            </a:r>
            <a:r>
              <a:rPr sz="2750" dirty="0">
                <a:latin typeface="Calibri"/>
                <a:cs typeface="Calibri"/>
              </a:rPr>
              <a:t>:Each</a:t>
            </a:r>
            <a:r>
              <a:rPr sz="2750" spc="114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record</a:t>
            </a:r>
            <a:r>
              <a:rPr sz="2750" spc="114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represents</a:t>
            </a:r>
            <a:r>
              <a:rPr sz="2750" spc="11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a</a:t>
            </a:r>
            <a:r>
              <a:rPr sz="2750" spc="17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single</a:t>
            </a:r>
            <a:r>
              <a:rPr sz="2750" spc="12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movie</a:t>
            </a:r>
            <a:r>
              <a:rPr sz="2750" spc="114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entry.</a:t>
            </a:r>
            <a:endParaRPr sz="2750" dirty="0">
              <a:latin typeface="Calibri"/>
              <a:cs typeface="Calibri"/>
            </a:endParaRPr>
          </a:p>
          <a:p>
            <a:pPr marL="355600" marR="5080" indent="-343535">
              <a:lnSpc>
                <a:spcPts val="3000"/>
              </a:lnSpc>
              <a:spcBef>
                <a:spcPts val="1105"/>
              </a:spcBef>
              <a:buSzPct val="65454"/>
              <a:buFont typeface="Arial MT"/>
              <a:buChar char="•"/>
              <a:tabLst>
                <a:tab pos="355600" algn="l"/>
              </a:tabLst>
            </a:pPr>
            <a:r>
              <a:rPr sz="2750" b="1" dirty="0">
                <a:latin typeface="Calibri"/>
                <a:cs typeface="Calibri"/>
              </a:rPr>
              <a:t>Issues</a:t>
            </a:r>
            <a:r>
              <a:rPr sz="2750" dirty="0">
                <a:latin typeface="Calibri"/>
                <a:cs typeface="Calibri"/>
              </a:rPr>
              <a:t>:Missing</a:t>
            </a:r>
            <a:r>
              <a:rPr sz="2750" spc="114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values</a:t>
            </a:r>
            <a:r>
              <a:rPr sz="2750" spc="19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in</a:t>
            </a:r>
            <a:r>
              <a:rPr sz="2750" spc="11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revenue</a:t>
            </a:r>
            <a:r>
              <a:rPr sz="2750" spc="12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and</a:t>
            </a:r>
            <a:r>
              <a:rPr sz="2750" spc="14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metascore,</a:t>
            </a:r>
            <a:r>
              <a:rPr sz="2750" spc="12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inconsistent</a:t>
            </a:r>
            <a:r>
              <a:rPr sz="2750" spc="114" dirty="0">
                <a:latin typeface="Calibri"/>
                <a:cs typeface="Calibri"/>
              </a:rPr>
              <a:t> </a:t>
            </a:r>
            <a:r>
              <a:rPr sz="2750" spc="-20" dirty="0">
                <a:latin typeface="Calibri"/>
                <a:cs typeface="Calibri"/>
              </a:rPr>
              <a:t>data </a:t>
            </a:r>
            <a:r>
              <a:rPr sz="2750" dirty="0">
                <a:latin typeface="Calibri"/>
                <a:cs typeface="Calibri"/>
              </a:rPr>
              <a:t>formats,</a:t>
            </a:r>
            <a:r>
              <a:rPr sz="2750" spc="9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and</a:t>
            </a:r>
            <a:r>
              <a:rPr sz="2750" spc="8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duplicate</a:t>
            </a:r>
            <a:r>
              <a:rPr sz="2750" spc="8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movie</a:t>
            </a:r>
            <a:r>
              <a:rPr sz="2750" spc="8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titles</a:t>
            </a:r>
            <a:r>
              <a:rPr sz="2750" spc="80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(fixed</a:t>
            </a:r>
            <a:r>
              <a:rPr sz="2750" spc="8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during</a:t>
            </a:r>
            <a:r>
              <a:rPr sz="2750" spc="85" dirty="0">
                <a:latin typeface="Calibri"/>
                <a:cs typeface="Calibri"/>
              </a:rPr>
              <a:t> </a:t>
            </a:r>
            <a:r>
              <a:rPr sz="2750" dirty="0">
                <a:latin typeface="Calibri"/>
                <a:cs typeface="Calibri"/>
              </a:rPr>
              <a:t>data</a:t>
            </a:r>
            <a:r>
              <a:rPr sz="2750" spc="60" dirty="0">
                <a:latin typeface="Calibri"/>
                <a:cs typeface="Calibri"/>
              </a:rPr>
              <a:t> </a:t>
            </a:r>
            <a:r>
              <a:rPr sz="2750" spc="-10" dirty="0">
                <a:latin typeface="Calibri"/>
                <a:cs typeface="Calibri"/>
              </a:rPr>
              <a:t>cleaning).</a:t>
            </a:r>
            <a:endParaRPr sz="2750" dirty="0">
              <a:latin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181" y="252350"/>
            <a:ext cx="7343298" cy="1054198"/>
          </a:xfrm>
          <a:prstGeom prst="rect">
            <a:avLst/>
          </a:prstGeom>
        </p:spPr>
        <p:txBody>
          <a:bodyPr vert="horz" wrap="square" lIns="0" tIns="373443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u="sng" dirty="0">
                <a:uFill>
                  <a:solidFill>
                    <a:srgbClr val="FF0000"/>
                  </a:solidFill>
                </a:uFill>
              </a:rPr>
              <a:t>Exploratory</a:t>
            </a:r>
            <a:r>
              <a:rPr u="sng" spc="-110" dirty="0">
                <a:uFill>
                  <a:solidFill>
                    <a:srgbClr val="FF0000"/>
                  </a:solidFill>
                </a:uFill>
              </a:rPr>
              <a:t> </a:t>
            </a:r>
            <a:r>
              <a:rPr u="sng" dirty="0">
                <a:uFill>
                  <a:solidFill>
                    <a:srgbClr val="FF0000"/>
                  </a:solidFill>
                </a:uFill>
              </a:rPr>
              <a:t>Data</a:t>
            </a:r>
            <a:r>
              <a:rPr u="sng" spc="-110" dirty="0">
                <a:uFill>
                  <a:solidFill>
                    <a:srgbClr val="FF0000"/>
                  </a:solidFill>
                </a:uFill>
              </a:rPr>
              <a:t> </a:t>
            </a:r>
            <a:r>
              <a:rPr u="sng" spc="-10" dirty="0">
                <a:uFill>
                  <a:solidFill>
                    <a:srgbClr val="FF0000"/>
                  </a:solidFill>
                </a:uFill>
              </a:rPr>
              <a:t>Analysis: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763192" y="1842199"/>
            <a:ext cx="7617619" cy="3702296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369570" indent="-342265">
              <a:spcBef>
                <a:spcPts val="770"/>
              </a:spcBef>
              <a:buSzPct val="65454"/>
              <a:buFont typeface="Arial MT"/>
              <a:buChar char="•"/>
              <a:tabLst>
                <a:tab pos="369570" algn="l"/>
              </a:tabLst>
            </a:pPr>
            <a:r>
              <a:rPr b="1" dirty="0">
                <a:latin typeface="Calibri"/>
                <a:cs typeface="Calibri"/>
              </a:rPr>
              <a:t>Data</a:t>
            </a:r>
            <a:r>
              <a:rPr b="1" spc="105" dirty="0"/>
              <a:t> </a:t>
            </a:r>
            <a:r>
              <a:rPr b="1" dirty="0">
                <a:latin typeface="Calibri"/>
                <a:cs typeface="Calibri"/>
              </a:rPr>
              <a:t>Cleaning</a:t>
            </a:r>
            <a:r>
              <a:rPr b="1" spc="70" dirty="0"/>
              <a:t> </a:t>
            </a:r>
            <a:r>
              <a:rPr dirty="0"/>
              <a:t>→</a:t>
            </a:r>
            <a:r>
              <a:rPr spc="125" dirty="0"/>
              <a:t> </a:t>
            </a:r>
            <a:r>
              <a:rPr dirty="0"/>
              <a:t>Removed</a:t>
            </a:r>
            <a:r>
              <a:rPr spc="105" dirty="0"/>
              <a:t> </a:t>
            </a:r>
            <a:r>
              <a:rPr dirty="0"/>
              <a:t>errors,</a:t>
            </a:r>
            <a:r>
              <a:rPr spc="120" dirty="0"/>
              <a:t> </a:t>
            </a:r>
            <a:r>
              <a:rPr dirty="0"/>
              <a:t>duplicates,</a:t>
            </a:r>
            <a:r>
              <a:rPr spc="120" dirty="0"/>
              <a:t> </a:t>
            </a:r>
            <a:r>
              <a:rPr dirty="0"/>
              <a:t>and</a:t>
            </a:r>
            <a:r>
              <a:rPr spc="105" dirty="0"/>
              <a:t> </a:t>
            </a:r>
            <a:r>
              <a:rPr dirty="0"/>
              <a:t>missing</a:t>
            </a:r>
            <a:r>
              <a:rPr spc="105" dirty="0"/>
              <a:t> </a:t>
            </a:r>
            <a:r>
              <a:rPr spc="-10" dirty="0"/>
              <a:t>values.</a:t>
            </a:r>
          </a:p>
          <a:p>
            <a:pPr marL="369570" indent="-342265">
              <a:spcBef>
                <a:spcPts val="680"/>
              </a:spcBef>
              <a:buSzPct val="65454"/>
              <a:buFont typeface="Arial MT"/>
              <a:buChar char="•"/>
              <a:tabLst>
                <a:tab pos="369570" algn="l"/>
              </a:tabLst>
            </a:pPr>
            <a:r>
              <a:rPr b="1" dirty="0">
                <a:latin typeface="Calibri"/>
                <a:cs typeface="Calibri"/>
              </a:rPr>
              <a:t>Data</a:t>
            </a:r>
            <a:r>
              <a:rPr b="1" spc="100" dirty="0"/>
              <a:t> </a:t>
            </a:r>
            <a:r>
              <a:rPr b="1" dirty="0">
                <a:latin typeface="Calibri"/>
                <a:cs typeface="Calibri"/>
              </a:rPr>
              <a:t>Manipulation</a:t>
            </a:r>
            <a:r>
              <a:rPr b="1" spc="105" dirty="0"/>
              <a:t> </a:t>
            </a:r>
            <a:r>
              <a:rPr dirty="0"/>
              <a:t>→</a:t>
            </a:r>
            <a:r>
              <a:rPr spc="114" dirty="0"/>
              <a:t> </a:t>
            </a:r>
            <a:r>
              <a:rPr dirty="0"/>
              <a:t>Created</a:t>
            </a:r>
            <a:r>
              <a:rPr spc="95" dirty="0"/>
              <a:t> </a:t>
            </a:r>
            <a:r>
              <a:rPr dirty="0"/>
              <a:t>new</a:t>
            </a:r>
            <a:r>
              <a:rPr spc="90" dirty="0"/>
              <a:t> </a:t>
            </a:r>
            <a:r>
              <a:rPr dirty="0"/>
              <a:t>fields</a:t>
            </a:r>
            <a:r>
              <a:rPr spc="90" dirty="0"/>
              <a:t> </a:t>
            </a:r>
            <a:r>
              <a:rPr dirty="0"/>
              <a:t>and</a:t>
            </a:r>
            <a:r>
              <a:rPr spc="95" dirty="0"/>
              <a:t> </a:t>
            </a:r>
            <a:r>
              <a:rPr dirty="0"/>
              <a:t>organized</a:t>
            </a:r>
            <a:r>
              <a:rPr spc="170" dirty="0"/>
              <a:t> </a:t>
            </a:r>
            <a:r>
              <a:rPr spc="-10" dirty="0"/>
              <a:t>data.</a:t>
            </a:r>
          </a:p>
          <a:p>
            <a:pPr marL="369570" marR="797560" indent="-342900">
              <a:lnSpc>
                <a:spcPts val="3000"/>
              </a:lnSpc>
              <a:spcBef>
                <a:spcPts val="1105"/>
              </a:spcBef>
              <a:buSzPct val="65454"/>
              <a:buFont typeface="Arial MT"/>
              <a:buChar char="•"/>
              <a:tabLst>
                <a:tab pos="369570" algn="l"/>
              </a:tabLst>
            </a:pPr>
            <a:r>
              <a:rPr b="1" dirty="0">
                <a:latin typeface="Calibri"/>
                <a:cs typeface="Calibri"/>
              </a:rPr>
              <a:t>Univariate</a:t>
            </a:r>
            <a:r>
              <a:rPr b="1" spc="85" dirty="0"/>
              <a:t> </a:t>
            </a:r>
            <a:r>
              <a:rPr b="1" dirty="0">
                <a:latin typeface="Calibri"/>
                <a:cs typeface="Calibri"/>
              </a:rPr>
              <a:t>Analysis</a:t>
            </a:r>
            <a:r>
              <a:rPr b="1" spc="105" dirty="0"/>
              <a:t> </a:t>
            </a:r>
            <a:r>
              <a:rPr dirty="0"/>
              <a:t>→Studied</a:t>
            </a:r>
            <a:r>
              <a:rPr spc="105" dirty="0"/>
              <a:t> </a:t>
            </a:r>
            <a:r>
              <a:rPr dirty="0"/>
              <a:t>each</a:t>
            </a:r>
            <a:r>
              <a:rPr spc="190" dirty="0"/>
              <a:t> </a:t>
            </a:r>
            <a:r>
              <a:rPr dirty="0"/>
              <a:t>column</a:t>
            </a:r>
            <a:r>
              <a:rPr spc="105" dirty="0"/>
              <a:t> </a:t>
            </a:r>
            <a:r>
              <a:rPr dirty="0"/>
              <a:t>like</a:t>
            </a:r>
            <a:r>
              <a:rPr spc="105" dirty="0"/>
              <a:t> </a:t>
            </a:r>
            <a:r>
              <a:rPr dirty="0"/>
              <a:t>Rating,</a:t>
            </a:r>
            <a:r>
              <a:rPr spc="45" dirty="0"/>
              <a:t> </a:t>
            </a:r>
            <a:r>
              <a:rPr spc="-10" dirty="0"/>
              <a:t>Genre, Revenue.</a:t>
            </a:r>
          </a:p>
          <a:p>
            <a:pPr marL="369570" marR="5080" indent="-342900">
              <a:lnSpc>
                <a:spcPts val="3010"/>
              </a:lnSpc>
              <a:spcBef>
                <a:spcPts val="1050"/>
              </a:spcBef>
              <a:buSzPct val="65454"/>
              <a:buFont typeface="Arial MT"/>
              <a:buChar char="•"/>
              <a:tabLst>
                <a:tab pos="369570" algn="l"/>
              </a:tabLst>
            </a:pPr>
            <a:r>
              <a:rPr b="1" dirty="0">
                <a:latin typeface="Calibri"/>
                <a:cs typeface="Calibri"/>
              </a:rPr>
              <a:t>Bivariate</a:t>
            </a:r>
            <a:r>
              <a:rPr b="1" spc="150" dirty="0"/>
              <a:t> </a:t>
            </a:r>
            <a:r>
              <a:rPr b="1" dirty="0">
                <a:latin typeface="Calibri"/>
                <a:cs typeface="Calibri"/>
              </a:rPr>
              <a:t>Analysis</a:t>
            </a:r>
            <a:r>
              <a:rPr b="1" spc="75" dirty="0"/>
              <a:t> </a:t>
            </a:r>
            <a:r>
              <a:rPr dirty="0"/>
              <a:t>→Checked</a:t>
            </a:r>
            <a:r>
              <a:rPr spc="175" dirty="0"/>
              <a:t> </a:t>
            </a:r>
            <a:r>
              <a:rPr dirty="0"/>
              <a:t>relationships</a:t>
            </a:r>
            <a:r>
              <a:rPr spc="90" dirty="0"/>
              <a:t> </a:t>
            </a:r>
            <a:r>
              <a:rPr dirty="0"/>
              <a:t>(e.g.,</a:t>
            </a:r>
            <a:r>
              <a:rPr spc="110" dirty="0"/>
              <a:t> </a:t>
            </a:r>
            <a:r>
              <a:rPr dirty="0"/>
              <a:t>Rating</a:t>
            </a:r>
            <a:r>
              <a:rPr spc="95" dirty="0"/>
              <a:t> </a:t>
            </a:r>
            <a:r>
              <a:rPr dirty="0"/>
              <a:t>vs</a:t>
            </a:r>
            <a:r>
              <a:rPr spc="90" dirty="0"/>
              <a:t> </a:t>
            </a:r>
            <a:r>
              <a:rPr spc="-10" dirty="0"/>
              <a:t>Revenue, </a:t>
            </a:r>
            <a:r>
              <a:rPr dirty="0"/>
              <a:t>Genre</a:t>
            </a:r>
            <a:r>
              <a:rPr spc="100" dirty="0"/>
              <a:t> </a:t>
            </a:r>
            <a:r>
              <a:rPr dirty="0"/>
              <a:t>vs</a:t>
            </a:r>
            <a:r>
              <a:rPr spc="80" dirty="0"/>
              <a:t> </a:t>
            </a:r>
            <a:r>
              <a:rPr spc="-10" dirty="0"/>
              <a:t>Year).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181" y="252350"/>
            <a:ext cx="7343298" cy="1054198"/>
          </a:xfrm>
          <a:prstGeom prst="rect">
            <a:avLst/>
          </a:prstGeom>
        </p:spPr>
        <p:txBody>
          <a:bodyPr vert="horz" wrap="square" lIns="0" tIns="373443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dirty="0"/>
              <a:t>5.</a:t>
            </a:r>
            <a:r>
              <a:rPr spc="-60" dirty="0"/>
              <a:t> </a:t>
            </a:r>
            <a:r>
              <a:rPr dirty="0"/>
              <a:t>Key</a:t>
            </a:r>
            <a:r>
              <a:rPr spc="-10" dirty="0"/>
              <a:t> </a:t>
            </a:r>
            <a:r>
              <a:rPr dirty="0"/>
              <a:t>Business</a:t>
            </a:r>
            <a:r>
              <a:rPr spc="-50" dirty="0"/>
              <a:t> </a:t>
            </a:r>
            <a:r>
              <a:rPr spc="-10" dirty="0"/>
              <a:t>Questions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576" y="1843786"/>
            <a:ext cx="7251065" cy="22250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71145" indent="-258445">
              <a:spcBef>
                <a:spcPts val="105"/>
              </a:spcBef>
              <a:buSzPct val="76388"/>
              <a:buFont typeface="Calibri"/>
              <a:buChar char="•"/>
              <a:tabLst>
                <a:tab pos="271145" algn="l"/>
              </a:tabLst>
            </a:pPr>
            <a:r>
              <a:rPr sz="3600" b="1" dirty="0">
                <a:latin typeface="Calibri"/>
                <a:cs typeface="Calibri"/>
              </a:rPr>
              <a:t>Movie</a:t>
            </a:r>
            <a:r>
              <a:rPr sz="3600" b="1" spc="-60" dirty="0">
                <a:latin typeface="Calibri"/>
                <a:cs typeface="Calibri"/>
              </a:rPr>
              <a:t> </a:t>
            </a:r>
            <a:r>
              <a:rPr sz="3600" b="1" dirty="0">
                <a:latin typeface="Calibri"/>
                <a:cs typeface="Calibri"/>
              </a:rPr>
              <a:t>Overview</a:t>
            </a:r>
            <a:r>
              <a:rPr sz="3600" b="1" spc="-45" dirty="0">
                <a:latin typeface="Calibri"/>
                <a:cs typeface="Calibri"/>
              </a:rPr>
              <a:t> </a:t>
            </a:r>
            <a:r>
              <a:rPr sz="3600" b="1" dirty="0">
                <a:latin typeface="Calibri"/>
                <a:cs typeface="Calibri"/>
              </a:rPr>
              <a:t>&amp;</a:t>
            </a:r>
            <a:r>
              <a:rPr sz="3600" b="1" spc="-30" dirty="0">
                <a:latin typeface="Calibri"/>
                <a:cs typeface="Calibri"/>
              </a:rPr>
              <a:t> </a:t>
            </a:r>
            <a:r>
              <a:rPr sz="3600" b="1" dirty="0">
                <a:latin typeface="Calibri"/>
                <a:cs typeface="Calibri"/>
              </a:rPr>
              <a:t>Time</a:t>
            </a:r>
            <a:r>
              <a:rPr sz="3600" b="1" spc="-65" dirty="0">
                <a:latin typeface="Calibri"/>
                <a:cs typeface="Calibri"/>
              </a:rPr>
              <a:t> </a:t>
            </a:r>
            <a:r>
              <a:rPr sz="3600" b="1" spc="-10" dirty="0">
                <a:latin typeface="Calibri"/>
                <a:cs typeface="Calibri"/>
              </a:rPr>
              <a:t>Trends</a:t>
            </a:r>
            <a:endParaRPr sz="3600">
              <a:latin typeface="Calibri"/>
              <a:cs typeface="Calibri"/>
            </a:endParaRPr>
          </a:p>
          <a:p>
            <a:pPr marL="342265" indent="-329565">
              <a:lnSpc>
                <a:spcPts val="4300"/>
              </a:lnSpc>
              <a:spcBef>
                <a:spcPts val="35"/>
              </a:spcBef>
              <a:buFont typeface="Calibri"/>
              <a:buChar char="•"/>
              <a:tabLst>
                <a:tab pos="342265" algn="l"/>
              </a:tabLst>
            </a:pPr>
            <a:r>
              <a:rPr sz="3600" b="1" dirty="0">
                <a:latin typeface="Calibri"/>
                <a:cs typeface="Calibri"/>
              </a:rPr>
              <a:t>Genre</a:t>
            </a:r>
            <a:r>
              <a:rPr sz="3600" b="1" spc="-55" dirty="0">
                <a:latin typeface="Calibri"/>
                <a:cs typeface="Calibri"/>
              </a:rPr>
              <a:t> </a:t>
            </a:r>
            <a:r>
              <a:rPr sz="3600" b="1" dirty="0">
                <a:latin typeface="Calibri"/>
                <a:cs typeface="Calibri"/>
              </a:rPr>
              <a:t>&amp;</a:t>
            </a:r>
            <a:r>
              <a:rPr sz="3600" b="1" spc="-75" dirty="0">
                <a:latin typeface="Calibri"/>
                <a:cs typeface="Calibri"/>
              </a:rPr>
              <a:t> </a:t>
            </a:r>
            <a:r>
              <a:rPr sz="3600" b="1" dirty="0">
                <a:latin typeface="Calibri"/>
                <a:cs typeface="Calibri"/>
              </a:rPr>
              <a:t>Rating</a:t>
            </a:r>
            <a:r>
              <a:rPr sz="3600" b="1" spc="-25" dirty="0">
                <a:latin typeface="Calibri"/>
                <a:cs typeface="Calibri"/>
              </a:rPr>
              <a:t> </a:t>
            </a:r>
            <a:r>
              <a:rPr sz="3600" b="1" spc="-10" dirty="0">
                <a:latin typeface="Calibri"/>
                <a:cs typeface="Calibri"/>
              </a:rPr>
              <a:t>Analysis</a:t>
            </a:r>
            <a:endParaRPr sz="3600">
              <a:latin typeface="Calibri"/>
              <a:cs typeface="Calibri"/>
            </a:endParaRPr>
          </a:p>
          <a:p>
            <a:pPr marL="239395" indent="-236854">
              <a:lnSpc>
                <a:spcPts val="4300"/>
              </a:lnSpc>
              <a:buSzPct val="95833"/>
              <a:buFont typeface="Calibri"/>
              <a:buChar char="•"/>
              <a:tabLst>
                <a:tab pos="239395" algn="l"/>
              </a:tabLst>
            </a:pPr>
            <a:r>
              <a:rPr sz="3600" b="1" dirty="0">
                <a:latin typeface="Calibri"/>
                <a:cs typeface="Calibri"/>
              </a:rPr>
              <a:t>Top</a:t>
            </a:r>
            <a:r>
              <a:rPr sz="3600" b="1" spc="-75" dirty="0">
                <a:latin typeface="Calibri"/>
                <a:cs typeface="Calibri"/>
              </a:rPr>
              <a:t> </a:t>
            </a:r>
            <a:r>
              <a:rPr sz="3600" b="1" dirty="0">
                <a:latin typeface="Calibri"/>
                <a:cs typeface="Calibri"/>
              </a:rPr>
              <a:t>Performers</a:t>
            </a:r>
            <a:r>
              <a:rPr sz="3600" b="1" spc="-45" dirty="0">
                <a:latin typeface="Calibri"/>
                <a:cs typeface="Calibri"/>
              </a:rPr>
              <a:t> </a:t>
            </a:r>
            <a:r>
              <a:rPr sz="3600" b="1" dirty="0">
                <a:latin typeface="Calibri"/>
                <a:cs typeface="Calibri"/>
              </a:rPr>
              <a:t>&amp;</a:t>
            </a:r>
            <a:r>
              <a:rPr sz="3600" b="1" spc="-10" dirty="0">
                <a:latin typeface="Calibri"/>
                <a:cs typeface="Calibri"/>
              </a:rPr>
              <a:t> </a:t>
            </a:r>
            <a:r>
              <a:rPr sz="3600" b="1" dirty="0">
                <a:latin typeface="Calibri"/>
                <a:cs typeface="Calibri"/>
              </a:rPr>
              <a:t>Box</a:t>
            </a:r>
            <a:r>
              <a:rPr sz="3600" b="1" spc="-85" dirty="0">
                <a:latin typeface="Calibri"/>
                <a:cs typeface="Calibri"/>
              </a:rPr>
              <a:t> </a:t>
            </a:r>
            <a:r>
              <a:rPr sz="3600" b="1" dirty="0">
                <a:latin typeface="Calibri"/>
                <a:cs typeface="Calibri"/>
              </a:rPr>
              <a:t>Office</a:t>
            </a:r>
            <a:r>
              <a:rPr sz="3600" b="1" spc="-50" dirty="0">
                <a:latin typeface="Calibri"/>
                <a:cs typeface="Calibri"/>
              </a:rPr>
              <a:t> </a:t>
            </a:r>
            <a:r>
              <a:rPr sz="3600" b="1" spc="-10" dirty="0">
                <a:latin typeface="Calibri"/>
                <a:cs typeface="Calibri"/>
              </a:rPr>
              <a:t>Insights</a:t>
            </a:r>
            <a:endParaRPr sz="3600">
              <a:latin typeface="Calibri"/>
              <a:cs typeface="Calibri"/>
            </a:endParaRPr>
          </a:p>
          <a:p>
            <a:pPr marL="239395" indent="-236854">
              <a:spcBef>
                <a:spcPts val="35"/>
              </a:spcBef>
              <a:buSzPct val="95833"/>
              <a:buFont typeface="Calibri"/>
              <a:buChar char="•"/>
              <a:tabLst>
                <a:tab pos="239395" algn="l"/>
              </a:tabLst>
            </a:pPr>
            <a:r>
              <a:rPr sz="3600" b="1" dirty="0">
                <a:latin typeface="Calibri"/>
                <a:cs typeface="Calibri"/>
              </a:rPr>
              <a:t>Correlation</a:t>
            </a:r>
            <a:r>
              <a:rPr sz="3600" b="1" spc="-85" dirty="0">
                <a:latin typeface="Calibri"/>
                <a:cs typeface="Calibri"/>
              </a:rPr>
              <a:t> </a:t>
            </a:r>
            <a:r>
              <a:rPr sz="3600" b="1" dirty="0">
                <a:latin typeface="Calibri"/>
                <a:cs typeface="Calibri"/>
              </a:rPr>
              <a:t>&amp;</a:t>
            </a:r>
            <a:r>
              <a:rPr sz="3600" b="1" spc="-85" dirty="0">
                <a:latin typeface="Calibri"/>
                <a:cs typeface="Calibri"/>
              </a:rPr>
              <a:t> </a:t>
            </a:r>
            <a:r>
              <a:rPr sz="3600" b="1" dirty="0">
                <a:latin typeface="Calibri"/>
                <a:cs typeface="Calibri"/>
              </a:rPr>
              <a:t>Advanced</a:t>
            </a:r>
            <a:r>
              <a:rPr sz="3600" b="1" spc="-90" dirty="0">
                <a:latin typeface="Calibri"/>
                <a:cs typeface="Calibri"/>
              </a:rPr>
              <a:t> </a:t>
            </a:r>
            <a:r>
              <a:rPr sz="3600" b="1" spc="-10" dirty="0">
                <a:latin typeface="Calibri"/>
                <a:cs typeface="Calibri"/>
              </a:rPr>
              <a:t>Metrics</a:t>
            </a:r>
            <a:endParaRPr sz="3600">
              <a:latin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8575"/>
            <a:ext cx="12192000" cy="6734175"/>
            <a:chOff x="0" y="28573"/>
            <a:chExt cx="12192000" cy="67341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91200" y="3124200"/>
              <a:ext cx="609600" cy="6096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28573"/>
              <a:ext cx="12191999" cy="6734175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268420" y="11430"/>
            <a:ext cx="3386454" cy="398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50" spc="-20" dirty="0">
                <a:latin typeface="Arial MT"/>
                <a:cs typeface="Arial MT"/>
              </a:rPr>
              <a:t>Genre</a:t>
            </a:r>
            <a:r>
              <a:rPr sz="2450" spc="-65" dirty="0">
                <a:latin typeface="Arial MT"/>
                <a:cs typeface="Arial MT"/>
              </a:rPr>
              <a:t> </a:t>
            </a:r>
            <a:r>
              <a:rPr sz="2450" dirty="0">
                <a:latin typeface="Arial MT"/>
                <a:cs typeface="Arial MT"/>
              </a:rPr>
              <a:t>&amp;</a:t>
            </a:r>
            <a:r>
              <a:rPr sz="2450" spc="-140" dirty="0">
                <a:latin typeface="Arial MT"/>
                <a:cs typeface="Arial MT"/>
              </a:rPr>
              <a:t> </a:t>
            </a:r>
            <a:r>
              <a:rPr sz="2450" dirty="0">
                <a:latin typeface="Arial MT"/>
                <a:cs typeface="Arial MT"/>
              </a:rPr>
              <a:t>Rating</a:t>
            </a:r>
            <a:r>
              <a:rPr sz="2450" spc="-155" dirty="0">
                <a:latin typeface="Arial MT"/>
                <a:cs typeface="Arial MT"/>
              </a:rPr>
              <a:t> </a:t>
            </a:r>
            <a:r>
              <a:rPr sz="2450" spc="-10" dirty="0">
                <a:latin typeface="Arial MT"/>
                <a:cs typeface="Arial MT"/>
              </a:rPr>
              <a:t>Analysis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36210" y="911352"/>
            <a:ext cx="781050" cy="650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4100" spc="-330" dirty="0">
                <a:solidFill>
                  <a:srgbClr val="232323"/>
                </a:solidFill>
                <a:latin typeface="Arial MT"/>
                <a:cs typeface="Arial MT"/>
              </a:rPr>
              <a:t>207</a:t>
            </a:r>
            <a:endParaRPr sz="41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42875" y="911352"/>
            <a:ext cx="1132840" cy="650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4100" spc="-325" dirty="0">
                <a:solidFill>
                  <a:srgbClr val="232323"/>
                </a:solidFill>
                <a:latin typeface="Arial MT"/>
                <a:cs typeface="Arial MT"/>
              </a:rPr>
              <a:t>59.00</a:t>
            </a:r>
            <a:endParaRPr sz="41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3148" y="2503170"/>
            <a:ext cx="1449070" cy="627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950" spc="-125" dirty="0">
                <a:solidFill>
                  <a:srgbClr val="232323"/>
                </a:solidFill>
                <a:latin typeface="Arial MT"/>
                <a:cs typeface="Arial MT"/>
              </a:rPr>
              <a:t>Action,</a:t>
            </a:r>
            <a:endParaRPr sz="39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89732" y="2503170"/>
            <a:ext cx="1449070" cy="627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950" spc="-125" dirty="0">
                <a:solidFill>
                  <a:srgbClr val="232323"/>
                </a:solidFill>
                <a:latin typeface="Arial MT"/>
                <a:cs typeface="Arial MT"/>
              </a:rPr>
              <a:t>Action.</a:t>
            </a:r>
            <a:endParaRPr sz="395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0040" y="3702557"/>
            <a:ext cx="2404110" cy="2051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50" spc="-85" dirty="0">
                <a:solidFill>
                  <a:srgbClr val="313131"/>
                </a:solidFill>
                <a:latin typeface="Arial MT"/>
                <a:cs typeface="Arial MT"/>
              </a:rPr>
              <a:t>Sum</a:t>
            </a:r>
            <a:r>
              <a:rPr sz="1250" spc="-5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1250" spc="-35" dirty="0">
                <a:solidFill>
                  <a:srgbClr val="2A2A2A"/>
                </a:solidFill>
                <a:latin typeface="Arial MT"/>
                <a:cs typeface="Arial MT"/>
              </a:rPr>
              <a:t>of </a:t>
            </a:r>
            <a:r>
              <a:rPr sz="1250" spc="-55" dirty="0">
                <a:solidFill>
                  <a:srgbClr val="414141"/>
                </a:solidFill>
                <a:latin typeface="Arial MT"/>
                <a:cs typeface="Arial MT"/>
              </a:rPr>
              <a:t>Revenue</a:t>
            </a:r>
            <a:r>
              <a:rPr sz="1250" spc="215" dirty="0">
                <a:solidFill>
                  <a:srgbClr val="414141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333333"/>
                </a:solidFill>
                <a:latin typeface="Arial MT"/>
                <a:cs typeface="Arial MT"/>
              </a:rPr>
              <a:t>Millions</a:t>
            </a:r>
            <a:r>
              <a:rPr sz="1250" spc="19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424242"/>
                </a:solidFill>
                <a:latin typeface="Arial MT"/>
                <a:cs typeface="Arial MT"/>
              </a:rPr>
              <a:t>by </a:t>
            </a:r>
            <a:r>
              <a:rPr sz="1250" spc="-60" dirty="0">
                <a:solidFill>
                  <a:srgbClr val="444444"/>
                </a:solidFill>
                <a:latin typeface="Arial MT"/>
                <a:cs typeface="Arial MT"/>
              </a:rPr>
              <a:t>Genre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14141" y="6315964"/>
            <a:ext cx="364490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000" spc="-240" dirty="0">
                <a:solidFill>
                  <a:srgbClr val="3B3B3B"/>
                </a:solidFill>
                <a:latin typeface="Arial MT"/>
                <a:cs typeface="Arial MT"/>
              </a:rPr>
              <a:t>G</a:t>
            </a:r>
            <a:r>
              <a:rPr sz="1000" spc="-130" dirty="0">
                <a:solidFill>
                  <a:srgbClr val="3B3B3B"/>
                </a:solidFill>
                <a:latin typeface="Arial MT"/>
                <a:cs typeface="Arial MT"/>
              </a:rPr>
              <a:t> </a:t>
            </a:r>
            <a:r>
              <a:rPr sz="1000" spc="-20" dirty="0">
                <a:solidFill>
                  <a:srgbClr val="3D3D3D"/>
                </a:solidFill>
                <a:latin typeface="Arial MT"/>
                <a:cs typeface="Arial MT"/>
              </a:rPr>
              <a:t>enre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226749" y="648210"/>
            <a:ext cx="1524000" cy="2128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300" spc="-120" dirty="0">
                <a:solidFill>
                  <a:srgbClr val="363636"/>
                </a:solidFill>
                <a:latin typeface="Arial MT"/>
                <a:cs typeface="Arial MT"/>
              </a:rPr>
              <a:t>Max</a:t>
            </a:r>
            <a:r>
              <a:rPr sz="1300" spc="25" dirty="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sz="1300" spc="-60" dirty="0">
                <a:solidFill>
                  <a:srgbClr val="2A2A2A"/>
                </a:solidFill>
                <a:latin typeface="Arial MT"/>
                <a:cs typeface="Arial MT"/>
              </a:rPr>
              <a:t>of</a:t>
            </a:r>
            <a:r>
              <a:rPr sz="130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300" spc="-100" dirty="0">
                <a:solidFill>
                  <a:srgbClr val="2B2B2B"/>
                </a:solidFill>
                <a:latin typeface="Arial MT"/>
                <a:cs typeface="Arial MT"/>
              </a:rPr>
              <a:t>Votes</a:t>
            </a:r>
            <a:r>
              <a:rPr sz="1300" spc="5" dirty="0">
                <a:solidFill>
                  <a:srgbClr val="2B2B2B"/>
                </a:solidFill>
                <a:latin typeface="Arial MT"/>
                <a:cs typeface="Arial MT"/>
              </a:rPr>
              <a:t> </a:t>
            </a:r>
            <a:r>
              <a:rPr sz="1300" spc="-65" dirty="0">
                <a:solidFill>
                  <a:srgbClr val="343434"/>
                </a:solidFill>
                <a:latin typeface="Arial MT"/>
                <a:cs typeface="Arial MT"/>
              </a:rPr>
              <a:t>by</a:t>
            </a:r>
            <a:r>
              <a:rPr sz="1300" spc="-15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1300" spc="-85" dirty="0">
                <a:solidFill>
                  <a:srgbClr val="2D2D2D"/>
                </a:solidFill>
                <a:latin typeface="Arial MT"/>
                <a:cs typeface="Arial MT"/>
              </a:rPr>
              <a:t>Genre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864591" y="3702557"/>
            <a:ext cx="1849755" cy="2051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50" spc="-90" dirty="0">
                <a:solidFill>
                  <a:srgbClr val="424242"/>
                </a:solidFill>
                <a:latin typeface="Arial MT"/>
                <a:cs typeface="Arial MT"/>
              </a:rPr>
              <a:t>Ax'erage</a:t>
            </a:r>
            <a:r>
              <a:rPr sz="1250" spc="20" dirty="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sz="1250" spc="-50" dirty="0">
                <a:solidFill>
                  <a:srgbClr val="2D2D2D"/>
                </a:solidFill>
                <a:latin typeface="Arial MT"/>
                <a:cs typeface="Arial MT"/>
              </a:rPr>
              <a:t>of</a:t>
            </a:r>
            <a:r>
              <a:rPr sz="1250" spc="10" dirty="0">
                <a:solidFill>
                  <a:srgbClr val="2D2D2D"/>
                </a:solidFill>
                <a:latin typeface="Arial MT"/>
                <a:cs typeface="Arial MT"/>
              </a:rPr>
              <a:t> </a:t>
            </a:r>
            <a:r>
              <a:rPr sz="1250" spc="-45" dirty="0">
                <a:solidFill>
                  <a:srgbClr val="2B2B2B"/>
                </a:solidFill>
                <a:latin typeface="Arial MT"/>
                <a:cs typeface="Arial MT"/>
              </a:rPr>
              <a:t>Rating</a:t>
            </a:r>
            <a:r>
              <a:rPr sz="1250" spc="-40" dirty="0">
                <a:solidFill>
                  <a:srgbClr val="2B2B2B"/>
                </a:solidFill>
                <a:latin typeface="Arial MT"/>
                <a:cs typeface="Arial MT"/>
              </a:rPr>
              <a:t> </a:t>
            </a:r>
            <a:r>
              <a:rPr sz="1250" spc="-30" dirty="0">
                <a:solidFill>
                  <a:srgbClr val="484848"/>
                </a:solidFill>
                <a:latin typeface="Arial MT"/>
                <a:cs typeface="Arial MT"/>
              </a:rPr>
              <a:t>by</a:t>
            </a:r>
            <a:r>
              <a:rPr sz="1250" spc="-55" dirty="0">
                <a:solidFill>
                  <a:srgbClr val="484848"/>
                </a:solidFill>
                <a:latin typeface="Arial MT"/>
                <a:cs typeface="Arial MT"/>
              </a:rPr>
              <a:t> </a:t>
            </a:r>
            <a:r>
              <a:rPr sz="1250" spc="-40" dirty="0">
                <a:solidFill>
                  <a:srgbClr val="313131"/>
                </a:solidFill>
                <a:latin typeface="Arial MT"/>
                <a:cs typeface="Arial MT"/>
              </a:rPr>
              <a:t>Genre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880676" y="6239257"/>
            <a:ext cx="36322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100" spc="-65" dirty="0">
                <a:solidFill>
                  <a:srgbClr val="383838"/>
                </a:solidFill>
                <a:latin typeface="Consolas"/>
                <a:cs typeface="Consolas"/>
              </a:rPr>
              <a:t>Genre</a:t>
            </a:r>
            <a:endParaRPr sz="1100">
              <a:latin typeface="Consolas"/>
              <a:cs typeface="Consola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441678" y="654558"/>
            <a:ext cx="2157095" cy="2051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50" spc="-75" dirty="0">
                <a:solidFill>
                  <a:srgbClr val="2A2A2A"/>
                </a:solidFill>
                <a:latin typeface="Consolas"/>
                <a:cs typeface="Consolas"/>
              </a:rPr>
              <a:t>Averageo|</a:t>
            </a:r>
            <a:r>
              <a:rPr sz="1250" spc="-275" dirty="0">
                <a:solidFill>
                  <a:srgbClr val="2A2A2A"/>
                </a:solidFill>
                <a:latin typeface="Consolas"/>
                <a:cs typeface="Consolas"/>
              </a:rPr>
              <a:t> </a:t>
            </a:r>
            <a:r>
              <a:rPr sz="1250" spc="-10" dirty="0">
                <a:solidFill>
                  <a:srgbClr val="2D2D2D"/>
                </a:solidFill>
                <a:latin typeface="Consolas"/>
                <a:cs typeface="Consolas"/>
              </a:rPr>
              <a:t>MetaScorebyGenre</a:t>
            </a:r>
            <a:endParaRPr sz="1250">
              <a:latin typeface="Consolas"/>
              <a:cs typeface="Consola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221499" y="3708907"/>
            <a:ext cx="199771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25" dirty="0">
                <a:solidFill>
                  <a:srgbClr val="2D2D2D"/>
                </a:solidFill>
                <a:latin typeface="Arial MT"/>
                <a:cs typeface="Arial MT"/>
              </a:rPr>
              <a:t>Count</a:t>
            </a:r>
            <a:r>
              <a:rPr sz="1200" spc="60" dirty="0">
                <a:solidFill>
                  <a:srgbClr val="2D2D2D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2B2B2B"/>
                </a:solidFill>
                <a:latin typeface="Arial MT"/>
                <a:cs typeface="Arial MT"/>
              </a:rPr>
              <a:t>of</a:t>
            </a:r>
            <a:r>
              <a:rPr sz="1200" dirty="0">
                <a:solidFill>
                  <a:srgbClr val="2B2B2B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82828"/>
                </a:solidFill>
                <a:latin typeface="Arial MT"/>
                <a:cs typeface="Arial MT"/>
              </a:rPr>
              <a:t>Title</a:t>
            </a:r>
            <a:r>
              <a:rPr sz="1200" spc="-25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464646"/>
                </a:solidFill>
                <a:latin typeface="Arial MT"/>
                <a:cs typeface="Arial MT"/>
              </a:rPr>
              <a:t>by</a:t>
            </a:r>
            <a:r>
              <a:rPr sz="1200" spc="-5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200" spc="-25" dirty="0">
                <a:solidFill>
                  <a:srgbClr val="444444"/>
                </a:solidFill>
                <a:latin typeface="Arial MT"/>
                <a:cs typeface="Arial MT"/>
              </a:rPr>
              <a:t>Genre</a:t>
            </a:r>
            <a:r>
              <a:rPr sz="120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200" spc="-20" dirty="0">
                <a:solidFill>
                  <a:srgbClr val="414141"/>
                </a:solidFill>
                <a:latin typeface="Arial MT"/>
                <a:cs typeface="Arial MT"/>
              </a:rPr>
              <a:t>Name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966540" y="6340602"/>
            <a:ext cx="781685" cy="15901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950" dirty="0">
                <a:solidFill>
                  <a:srgbClr val="383838"/>
                </a:solidFill>
                <a:latin typeface="Arial MT"/>
                <a:cs typeface="Arial MT"/>
              </a:rPr>
              <a:t>Coun°</a:t>
            </a:r>
            <a:r>
              <a:rPr sz="950" spc="10" dirty="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sz="950" dirty="0">
                <a:solidFill>
                  <a:srgbClr val="3F3F3F"/>
                </a:solidFill>
                <a:latin typeface="Arial MT"/>
                <a:cs typeface="Arial MT"/>
              </a:rPr>
              <a:t>of</a:t>
            </a:r>
            <a:r>
              <a:rPr sz="950" spc="3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950" spc="-10" dirty="0">
                <a:solidFill>
                  <a:srgbClr val="242424"/>
                </a:solidFill>
                <a:latin typeface="Arial MT"/>
                <a:cs typeface="Arial MT"/>
              </a:rPr>
              <a:t>Tit</a:t>
            </a:r>
            <a:r>
              <a:rPr sz="950" spc="-150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950" spc="-25" dirty="0">
                <a:solidFill>
                  <a:srgbClr val="3F3F3F"/>
                </a:solidFill>
                <a:latin typeface="Arial MT"/>
                <a:cs typeface="Arial MT"/>
              </a:rPr>
              <a:t>Ie</a:t>
            </a:r>
            <a:endParaRPr sz="950">
              <a:latin typeface="Arial MT"/>
              <a:cs typeface="Arial M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79808" cy="68580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818952" y="905764"/>
            <a:ext cx="113220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4000" spc="-595" dirty="0">
                <a:solidFill>
                  <a:srgbClr val="232323"/>
                </a:solidFill>
                <a:latin typeface="Arial MT"/>
                <a:cs typeface="Arial MT"/>
              </a:rPr>
              <a:t>17OM</a:t>
            </a:r>
            <a:endParaRPr sz="40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710759" y="35814"/>
            <a:ext cx="5096510" cy="398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50" b="0" spc="-145" dirty="0">
                <a:solidFill>
                  <a:srgbClr val="000000"/>
                </a:solidFill>
                <a:latin typeface="Arial MT"/>
                <a:cs typeface="Arial MT"/>
              </a:rPr>
              <a:t>Top</a:t>
            </a:r>
            <a:r>
              <a:rPr sz="2450" b="0" spc="-2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450" b="0" dirty="0">
                <a:solidFill>
                  <a:srgbClr val="000000"/>
                </a:solidFill>
                <a:latin typeface="Arial MT"/>
                <a:cs typeface="Arial MT"/>
              </a:rPr>
              <a:t>Performers</a:t>
            </a:r>
            <a:r>
              <a:rPr sz="2450" b="0" spc="-7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450" b="0" dirty="0">
                <a:solidFill>
                  <a:srgbClr val="000000"/>
                </a:solidFill>
                <a:latin typeface="Arial MT"/>
                <a:cs typeface="Arial MT"/>
              </a:rPr>
              <a:t>&amp;</a:t>
            </a:r>
            <a:r>
              <a:rPr sz="2450" b="0" spc="-13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450" b="0" dirty="0">
                <a:solidFill>
                  <a:srgbClr val="000000"/>
                </a:solidFill>
                <a:latin typeface="Arial MT"/>
                <a:cs typeface="Arial MT"/>
              </a:rPr>
              <a:t>Box</a:t>
            </a:r>
            <a:r>
              <a:rPr sz="2450" b="0" spc="-75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450" b="0" spc="-35" dirty="0">
                <a:solidFill>
                  <a:srgbClr val="000000"/>
                </a:solidFill>
                <a:latin typeface="Arial MT"/>
                <a:cs typeface="Arial MT"/>
              </a:rPr>
              <a:t>OZice</a:t>
            </a:r>
            <a:r>
              <a:rPr sz="2450" b="0" spc="-110" dirty="0">
                <a:solidFill>
                  <a:srgbClr val="000000"/>
                </a:solidFill>
                <a:latin typeface="Arial MT"/>
                <a:cs typeface="Arial MT"/>
              </a:rPr>
              <a:t> </a:t>
            </a:r>
            <a:r>
              <a:rPr sz="2450" b="0" spc="-10" dirty="0">
                <a:solidFill>
                  <a:srgbClr val="000000"/>
                </a:solidFill>
                <a:latin typeface="Arial MT"/>
                <a:cs typeface="Arial MT"/>
              </a:rPr>
              <a:t>Insights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80547" y="2420620"/>
            <a:ext cx="193230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4000" spc="-210" dirty="0">
                <a:solidFill>
                  <a:srgbClr val="232323"/>
                </a:solidFill>
                <a:latin typeface="Arial MT"/>
                <a:cs typeface="Arial MT"/>
              </a:rPr>
              <a:t>$80.5446</a:t>
            </a:r>
            <a:endParaRPr sz="40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27378" y="2420620"/>
            <a:ext cx="162306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4000" spc="-305" dirty="0">
                <a:solidFill>
                  <a:srgbClr val="232323"/>
                </a:solidFill>
                <a:latin typeface="Arial MT"/>
                <a:cs typeface="Arial MT"/>
              </a:rPr>
              <a:t>$936.63</a:t>
            </a:r>
            <a:endParaRPr sz="40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79630" y="3592829"/>
            <a:ext cx="1400810" cy="2051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50" spc="-50" dirty="0">
                <a:solidFill>
                  <a:srgbClr val="333333"/>
                </a:solidFill>
                <a:latin typeface="Arial MT"/>
                <a:cs typeface="Arial MT"/>
              </a:rPr>
              <a:t>Idax</a:t>
            </a:r>
            <a:r>
              <a:rPr sz="1250" spc="-4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3A3A3A"/>
                </a:solidFill>
                <a:latin typeface="Arial MT"/>
                <a:cs typeface="Arial MT"/>
              </a:rPr>
              <a:t>ol</a:t>
            </a:r>
            <a:r>
              <a:rPr sz="1250" spc="-60" dirty="0">
                <a:solidFill>
                  <a:srgbClr val="3A3A3A"/>
                </a:solidFill>
                <a:latin typeface="Arial MT"/>
                <a:cs typeface="Arial MT"/>
              </a:rPr>
              <a:t> </a:t>
            </a:r>
            <a:r>
              <a:rPr sz="1250" spc="-80" dirty="0">
                <a:solidFill>
                  <a:srgbClr val="262626"/>
                </a:solidFill>
                <a:latin typeface="Arial MT"/>
                <a:cs typeface="Arial MT"/>
              </a:rPr>
              <a:t>Votes</a:t>
            </a:r>
            <a:r>
              <a:rPr sz="1250" spc="-5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2D2D2D"/>
                </a:solidFill>
                <a:latin typeface="Arial MT"/>
                <a:cs typeface="Arial MT"/>
              </a:rPr>
              <a:t>by </a:t>
            </a:r>
            <a:r>
              <a:rPr sz="1250" spc="-20" dirty="0">
                <a:solidFill>
                  <a:srgbClr val="282828"/>
                </a:solidFill>
                <a:latin typeface="Arial MT"/>
                <a:cs typeface="Arial MT"/>
              </a:rPr>
              <a:t>Title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28672" y="6361431"/>
            <a:ext cx="267335" cy="1744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050" spc="-10" dirty="0">
                <a:solidFill>
                  <a:srgbClr val="2D2D2D"/>
                </a:solidFill>
                <a:latin typeface="Arial MT"/>
                <a:cs typeface="Arial MT"/>
              </a:rPr>
              <a:t>Title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83138" y="3842766"/>
            <a:ext cx="1450340" cy="2051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50" spc="-75" dirty="0">
                <a:solidFill>
                  <a:srgbClr val="2A2A2A"/>
                </a:solidFill>
                <a:latin typeface="Arial MT"/>
                <a:cs typeface="Arial MT"/>
              </a:rPr>
              <a:t>TotalRevenue</a:t>
            </a:r>
            <a:r>
              <a:rPr sz="125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424242"/>
                </a:solidFill>
                <a:latin typeface="Arial MT"/>
                <a:cs typeface="Arial MT"/>
              </a:rPr>
              <a:t>by</a:t>
            </a:r>
            <a:r>
              <a:rPr sz="1250" spc="-50" dirty="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sz="1250" spc="-10" dirty="0">
                <a:solidFill>
                  <a:srgbClr val="262626"/>
                </a:solidFill>
                <a:latin typeface="Arial MT"/>
                <a:cs typeface="Arial MT"/>
              </a:rPr>
              <a:t>Title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15794" y="547878"/>
            <a:ext cx="2511425" cy="2051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50" spc="-100" dirty="0">
                <a:solidFill>
                  <a:srgbClr val="363636"/>
                </a:solidFill>
                <a:latin typeface="Arial MT"/>
                <a:cs typeface="Arial MT"/>
              </a:rPr>
              <a:t>Sum</a:t>
            </a:r>
            <a:r>
              <a:rPr sz="1250" spc="10" dirty="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363636"/>
                </a:solidFill>
                <a:latin typeface="Arial MT"/>
                <a:cs typeface="Arial MT"/>
              </a:rPr>
              <a:t>ol</a:t>
            </a:r>
            <a:r>
              <a:rPr sz="1250" spc="-85" dirty="0">
                <a:solidFill>
                  <a:srgbClr val="363636"/>
                </a:solidFill>
                <a:latin typeface="Arial MT"/>
                <a:cs typeface="Arial MT"/>
              </a:rPr>
              <a:t> </a:t>
            </a:r>
            <a:r>
              <a:rPr sz="1250" spc="-90" dirty="0">
                <a:solidFill>
                  <a:srgbClr val="2A2A2A"/>
                </a:solidFill>
                <a:latin typeface="Arial MT"/>
                <a:cs typeface="Arial MT"/>
              </a:rPr>
              <a:t>Revenue</a:t>
            </a:r>
            <a:r>
              <a:rPr sz="1250" spc="-20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250" spc="-20" dirty="0">
                <a:solidFill>
                  <a:srgbClr val="696969"/>
                </a:solidFill>
                <a:latin typeface="Arial MT"/>
                <a:cs typeface="Arial MT"/>
              </a:rPr>
              <a:t>I</a:t>
            </a:r>
            <a:r>
              <a:rPr sz="1250" spc="-20" dirty="0">
                <a:solidFill>
                  <a:srgbClr val="383838"/>
                </a:solidFill>
                <a:latin typeface="Arial MT"/>
                <a:cs typeface="Arial MT"/>
              </a:rPr>
              <a:t>Millions!</a:t>
            </a:r>
            <a:r>
              <a:rPr sz="1250" spc="-45" dirty="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424242"/>
                </a:solidFill>
                <a:latin typeface="Arial MT"/>
                <a:cs typeface="Arial MT"/>
              </a:rPr>
              <a:t>by</a:t>
            </a:r>
            <a:r>
              <a:rPr sz="1250" spc="35" dirty="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sz="1250" spc="-10" dirty="0">
                <a:solidFill>
                  <a:srgbClr val="262626"/>
                </a:solidFill>
                <a:latin typeface="Arial MT"/>
                <a:cs typeface="Arial MT"/>
              </a:rPr>
              <a:t>Director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125896" y="6431536"/>
            <a:ext cx="779145" cy="1744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050" spc="-60" dirty="0">
                <a:solidFill>
                  <a:srgbClr val="262626"/>
                </a:solidFill>
                <a:latin typeface="Arial MT"/>
                <a:cs typeface="Arial MT"/>
              </a:rPr>
              <a:t>TotatRevenue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925940" y="3438399"/>
            <a:ext cx="473709" cy="1744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050" spc="-20" dirty="0">
                <a:solidFill>
                  <a:srgbClr val="343434"/>
                </a:solidFill>
                <a:latin typeface="Arial MT"/>
                <a:cs typeface="Arial MT"/>
              </a:rPr>
              <a:t>Director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248319" y="4109211"/>
            <a:ext cx="2999740" cy="21830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spcBef>
                <a:spcPts val="100"/>
              </a:spcBef>
            </a:pPr>
            <a:r>
              <a:rPr sz="1000" spc="-70" dirty="0">
                <a:solidFill>
                  <a:srgbClr val="333333"/>
                </a:solidFill>
                <a:latin typeface="Arial MT"/>
                <a:cs typeface="Arial MT"/>
              </a:rPr>
              <a:t>Revenue</a:t>
            </a:r>
            <a:r>
              <a:rPr sz="1000" spc="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000" spc="-20" dirty="0">
                <a:solidFill>
                  <a:srgbClr val="839ACA"/>
                </a:solidFill>
                <a:latin typeface="Arial MT"/>
                <a:cs typeface="Arial MT"/>
              </a:rPr>
              <a:t>:f•‹1</a:t>
            </a:r>
            <a:endParaRPr sz="1000">
              <a:latin typeface="Arial MT"/>
              <a:cs typeface="Arial MT"/>
            </a:endParaRPr>
          </a:p>
          <a:p>
            <a:pPr>
              <a:spcBef>
                <a:spcPts val="1130"/>
              </a:spcBef>
            </a:pPr>
            <a:endParaRPr sz="1000">
              <a:latin typeface="Arial MT"/>
              <a:cs typeface="Arial MT"/>
            </a:endParaRPr>
          </a:p>
          <a:p>
            <a:pPr marL="146685"/>
            <a:r>
              <a:rPr sz="1000" spc="-50" dirty="0">
                <a:solidFill>
                  <a:srgbClr val="2D2D2D"/>
                </a:solidFill>
                <a:latin typeface="Arial MT"/>
                <a:cs typeface="Arial MT"/>
              </a:rPr>
              <a:t>engers:</a:t>
            </a:r>
            <a:r>
              <a:rPr sz="1000" spc="40" dirty="0">
                <a:solidFill>
                  <a:srgbClr val="2D2D2D"/>
                </a:solidFill>
                <a:latin typeface="Arial MT"/>
                <a:cs typeface="Arial MT"/>
              </a:rPr>
              <a:t> </a:t>
            </a:r>
            <a:r>
              <a:rPr sz="1000" spc="-60" dirty="0">
                <a:solidFill>
                  <a:srgbClr val="2A2A2A"/>
                </a:solidFill>
                <a:latin typeface="Arial MT"/>
                <a:cs typeface="Arial MT"/>
              </a:rPr>
              <a:t>Age</a:t>
            </a:r>
            <a:r>
              <a:rPr sz="1000" spc="-1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242424"/>
                </a:solidFill>
                <a:latin typeface="Arial MT"/>
                <a:cs typeface="Arial MT"/>
              </a:rPr>
              <a:t>cf</a:t>
            </a:r>
            <a:r>
              <a:rPr sz="1000" spc="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1000" spc="-10" dirty="0">
                <a:solidFill>
                  <a:srgbClr val="262626"/>
                </a:solidFill>
                <a:latin typeface="Arial MT"/>
                <a:cs typeface="Arial MT"/>
              </a:rPr>
              <a:t>Ultron</a:t>
            </a:r>
            <a:endParaRPr sz="1000">
              <a:latin typeface="Arial MT"/>
              <a:cs typeface="Arial MT"/>
            </a:endParaRPr>
          </a:p>
          <a:p>
            <a:pPr marL="12700" marR="2230755" indent="-635">
              <a:lnSpc>
                <a:spcPct val="116500"/>
              </a:lnSpc>
              <a:spcBef>
                <a:spcPts val="170"/>
              </a:spcBef>
            </a:pPr>
            <a:r>
              <a:rPr sz="950" dirty="0">
                <a:solidFill>
                  <a:srgbClr val="3F3F3F"/>
                </a:solidFill>
                <a:latin typeface="Arial MT"/>
                <a:cs typeface="Arial MT"/>
              </a:rPr>
              <a:t>I›ndir›g</a:t>
            </a:r>
            <a:r>
              <a:rPr sz="950" spc="95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950" spc="-20" dirty="0">
                <a:solidFill>
                  <a:srgbClr val="2F2F2F"/>
                </a:solidFill>
                <a:latin typeface="Arial MT"/>
                <a:cs typeface="Arial MT"/>
              </a:rPr>
              <a:t>psry </a:t>
            </a:r>
            <a:r>
              <a:rPr sz="1100" spc="-135" dirty="0">
                <a:solidFill>
                  <a:srgbClr val="333333"/>
                </a:solidFill>
                <a:latin typeface="Arial MT"/>
                <a:cs typeface="Arial MT"/>
              </a:rPr>
              <a:t>Jurassic</a:t>
            </a:r>
            <a:r>
              <a:rPr sz="1100" spc="10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100" spc="-50" dirty="0">
                <a:solidFill>
                  <a:srgbClr val="343434"/>
                </a:solidFill>
                <a:latin typeface="Arial MT"/>
                <a:cs typeface="Arial MT"/>
              </a:rPr>
              <a:t>’Acrld </a:t>
            </a:r>
            <a:r>
              <a:rPr sz="1100" spc="-135" dirty="0">
                <a:solidFill>
                  <a:srgbClr val="343434"/>
                </a:solidFill>
                <a:latin typeface="Arial MT"/>
                <a:cs typeface="Arial MT"/>
              </a:rPr>
              <a:t>Rcque</a:t>
            </a:r>
            <a:r>
              <a:rPr sz="1100" spc="70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3B3B3B"/>
                </a:solidFill>
                <a:latin typeface="Arial MT"/>
                <a:cs typeface="Arial MT"/>
              </a:rPr>
              <a:t>Cm</a:t>
            </a:r>
            <a:endParaRPr sz="1100">
              <a:latin typeface="Arial MT"/>
              <a:cs typeface="Arial MT"/>
            </a:endParaRPr>
          </a:p>
          <a:p>
            <a:pPr marL="14604">
              <a:spcBef>
                <a:spcPts val="245"/>
              </a:spcBef>
            </a:pPr>
            <a:r>
              <a:rPr sz="1050" spc="-95" dirty="0">
                <a:solidFill>
                  <a:srgbClr val="242424"/>
                </a:solidFill>
                <a:latin typeface="Arial MT"/>
                <a:cs typeface="Arial MT"/>
              </a:rPr>
              <a:t>Star</a:t>
            </a:r>
            <a:r>
              <a:rPr sz="1050" spc="20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1050" spc="-130" dirty="0">
                <a:solidFill>
                  <a:srgbClr val="2D2D2D"/>
                </a:solidFill>
                <a:latin typeface="Arial MT"/>
                <a:cs typeface="Arial MT"/>
              </a:rPr>
              <a:t>'‹1'ars:</a:t>
            </a:r>
            <a:r>
              <a:rPr sz="1050" spc="25" dirty="0">
                <a:solidFill>
                  <a:srgbClr val="2D2D2D"/>
                </a:solidFill>
                <a:latin typeface="Arial MT"/>
                <a:cs typeface="Arial MT"/>
              </a:rPr>
              <a:t> </a:t>
            </a:r>
            <a:r>
              <a:rPr sz="1050" spc="-100" dirty="0">
                <a:solidFill>
                  <a:srgbClr val="282828"/>
                </a:solidFill>
                <a:latin typeface="Arial MT"/>
                <a:cs typeface="Arial MT"/>
              </a:rPr>
              <a:t>Episode</a:t>
            </a:r>
            <a:r>
              <a:rPr sz="1050" spc="40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595959"/>
                </a:solidFill>
                <a:latin typeface="Arial MT"/>
                <a:cs typeface="Arial MT"/>
              </a:rPr>
              <a:t>\’I</a:t>
            </a:r>
            <a:r>
              <a:rPr sz="1050" spc="24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050" spc="-70" dirty="0">
                <a:solidFill>
                  <a:srgbClr val="2D2D2D"/>
                </a:solidFill>
                <a:latin typeface="Arial MT"/>
                <a:cs typeface="Arial MT"/>
              </a:rPr>
              <a:t>-</a:t>
            </a:r>
            <a:r>
              <a:rPr sz="1050" spc="-30" dirty="0">
                <a:solidFill>
                  <a:srgbClr val="2D2D2D"/>
                </a:solidFill>
                <a:latin typeface="Arial MT"/>
                <a:cs typeface="Arial MT"/>
              </a:rPr>
              <a:t> </a:t>
            </a:r>
            <a:r>
              <a:rPr sz="1050" dirty="0">
                <a:solidFill>
                  <a:srgbClr val="282828"/>
                </a:solidFill>
                <a:latin typeface="Arial MT"/>
                <a:cs typeface="Arial MT"/>
              </a:rPr>
              <a:t>*he</a:t>
            </a:r>
            <a:r>
              <a:rPr sz="1050" spc="20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1050" spc="-35" dirty="0">
                <a:solidFill>
                  <a:srgbClr val="282828"/>
                </a:solidFill>
                <a:latin typeface="Arial MT"/>
                <a:cs typeface="Arial MT"/>
              </a:rPr>
              <a:t>*crce</a:t>
            </a:r>
            <a:r>
              <a:rPr sz="1050" spc="35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242424"/>
                </a:solidFill>
                <a:latin typeface="Arial MT"/>
                <a:cs typeface="Arial MT"/>
              </a:rPr>
              <a:t>A»akens</a:t>
            </a:r>
            <a:endParaRPr sz="1050">
              <a:latin typeface="Arial MT"/>
              <a:cs typeface="Arial MT"/>
            </a:endParaRPr>
          </a:p>
          <a:p>
            <a:pPr>
              <a:spcBef>
                <a:spcPts val="484"/>
              </a:spcBef>
            </a:pPr>
            <a:endParaRPr sz="1050">
              <a:latin typeface="Arial MT"/>
              <a:cs typeface="Arial MT"/>
            </a:endParaRPr>
          </a:p>
          <a:p>
            <a:pPr marL="15240"/>
            <a:r>
              <a:rPr sz="1050" dirty="0">
                <a:solidFill>
                  <a:srgbClr val="2A2A2A"/>
                </a:solidFill>
                <a:latin typeface="Arial MT"/>
                <a:cs typeface="Arial MT"/>
              </a:rPr>
              <a:t>the</a:t>
            </a:r>
            <a:r>
              <a:rPr sz="1050" spc="-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050" spc="-50" dirty="0">
                <a:solidFill>
                  <a:srgbClr val="2A2A2A"/>
                </a:solidFill>
                <a:latin typeface="Arial MT"/>
                <a:cs typeface="Arial MT"/>
              </a:rPr>
              <a:t>3ark</a:t>
            </a:r>
            <a:r>
              <a:rPr sz="1050" spc="4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050" spc="-10" dirty="0">
                <a:solidFill>
                  <a:srgbClr val="262626"/>
                </a:solidFill>
                <a:latin typeface="Arial MT"/>
                <a:cs typeface="Arial MT"/>
              </a:rPr>
              <a:t>knight</a:t>
            </a:r>
            <a:endParaRPr sz="1050">
              <a:latin typeface="Arial MT"/>
              <a:cs typeface="Arial MT"/>
            </a:endParaRPr>
          </a:p>
          <a:p>
            <a:pPr>
              <a:spcBef>
                <a:spcPts val="555"/>
              </a:spcBef>
            </a:pPr>
            <a:endParaRPr sz="1050">
              <a:latin typeface="Arial MT"/>
              <a:cs typeface="Arial MT"/>
            </a:endParaRPr>
          </a:p>
          <a:p>
            <a:pPr marL="14604"/>
            <a:r>
              <a:rPr sz="1050" spc="-114" dirty="0">
                <a:solidFill>
                  <a:srgbClr val="262626"/>
                </a:solidFill>
                <a:latin typeface="Arial MT"/>
                <a:cs typeface="Arial MT"/>
              </a:rPr>
              <a:t>The</a:t>
            </a:r>
            <a:r>
              <a:rPr sz="1050" spc="4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050" spc="-20" dirty="0">
                <a:solidFill>
                  <a:srgbClr val="262626"/>
                </a:solidFill>
                <a:latin typeface="Arial MT"/>
                <a:cs typeface="Arial MT"/>
              </a:rPr>
              <a:t>-</a:t>
            </a:r>
            <a:r>
              <a:rPr sz="1050" dirty="0">
                <a:solidFill>
                  <a:srgbClr val="262626"/>
                </a:solidFill>
                <a:latin typeface="Arial MT"/>
                <a:cs typeface="Arial MT"/>
              </a:rPr>
              <a:t>unger</a:t>
            </a:r>
            <a:r>
              <a:rPr sz="1050" spc="5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050" spc="-135" dirty="0">
                <a:solidFill>
                  <a:srgbClr val="2D2D2D"/>
                </a:solidFill>
                <a:latin typeface="Arial MT"/>
                <a:cs typeface="Arial MT"/>
              </a:rPr>
              <a:t>Games:</a:t>
            </a:r>
            <a:r>
              <a:rPr sz="1050" spc="10" dirty="0">
                <a:solidFill>
                  <a:srgbClr val="2D2D2D"/>
                </a:solidFill>
                <a:latin typeface="Arial MT"/>
                <a:cs typeface="Arial MT"/>
              </a:rPr>
              <a:t> </a:t>
            </a:r>
            <a:r>
              <a:rPr sz="1050" spc="-65" dirty="0">
                <a:solidFill>
                  <a:srgbClr val="282828"/>
                </a:solidFill>
                <a:latin typeface="Arial MT"/>
                <a:cs typeface="Arial MT"/>
              </a:rPr>
              <a:t>Catching</a:t>
            </a:r>
            <a:r>
              <a:rPr sz="1050" spc="35" dirty="0">
                <a:solidFill>
                  <a:srgbClr val="282828"/>
                </a:solidFill>
                <a:latin typeface="Arial MT"/>
                <a:cs typeface="Arial MT"/>
              </a:rPr>
              <a:t> </a:t>
            </a:r>
            <a:r>
              <a:rPr sz="1050" spc="-20" dirty="0">
                <a:solidFill>
                  <a:srgbClr val="242424"/>
                </a:solidFill>
                <a:latin typeface="Arial MT"/>
                <a:cs typeface="Arial MT"/>
              </a:rPr>
              <a:t>*ire</a:t>
            </a:r>
            <a:endParaRPr sz="1050">
              <a:latin typeface="Arial MT"/>
              <a:cs typeface="Arial M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74220" cy="6858000"/>
            <a:chOff x="0" y="0"/>
            <a:chExt cx="1217422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73712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979152" y="6385559"/>
              <a:ext cx="341375" cy="124968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4156504" y="89915"/>
            <a:ext cx="362966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dirty="0">
                <a:latin typeface="Arial MT"/>
                <a:cs typeface="Arial MT"/>
              </a:rPr>
              <a:t>Correlation</a:t>
            </a:r>
            <a:r>
              <a:rPr sz="2000" spc="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&amp;</a:t>
            </a:r>
            <a:r>
              <a:rPr sz="2000" spc="-1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Advanced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MeVics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61356" y="868934"/>
            <a:ext cx="2929255" cy="19133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4050" spc="-320" dirty="0">
                <a:solidFill>
                  <a:srgbClr val="1D1D1D"/>
                </a:solidFill>
                <a:latin typeface="Arial MT"/>
                <a:cs typeface="Arial MT"/>
              </a:rPr>
              <a:t>59.00</a:t>
            </a:r>
            <a:endParaRPr sz="4050">
              <a:latin typeface="Arial MT"/>
              <a:cs typeface="Arial MT"/>
            </a:endParaRPr>
          </a:p>
          <a:p>
            <a:pPr>
              <a:spcBef>
                <a:spcPts val="250"/>
              </a:spcBef>
            </a:pPr>
            <a:endParaRPr sz="4050">
              <a:latin typeface="Arial MT"/>
              <a:cs typeface="Arial MT"/>
            </a:endParaRPr>
          </a:p>
          <a:p>
            <a:pPr marL="1030605"/>
            <a:r>
              <a:rPr sz="4000" spc="-270" dirty="0">
                <a:solidFill>
                  <a:srgbClr val="181818"/>
                </a:solidFill>
                <a:latin typeface="Arial MT"/>
                <a:cs typeface="Arial MT"/>
              </a:rPr>
              <a:t>$80.5446</a:t>
            </a:r>
            <a:endParaRPr sz="40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3089" y="3315461"/>
            <a:ext cx="2985135" cy="2051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50" spc="-100" dirty="0">
                <a:solidFill>
                  <a:srgbClr val="444444"/>
                </a:solidFill>
                <a:latin typeface="Arial MT"/>
                <a:cs typeface="Arial MT"/>
              </a:rPr>
              <a:t>Sum</a:t>
            </a:r>
            <a:r>
              <a:rPr sz="1250" spc="10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250" dirty="0">
                <a:solidFill>
                  <a:srgbClr val="1F1F1F"/>
                </a:solidFill>
                <a:latin typeface="Arial MT"/>
                <a:cs typeface="Arial MT"/>
              </a:rPr>
              <a:t>ol</a:t>
            </a:r>
            <a:r>
              <a:rPr sz="1250" spc="-85" dirty="0">
                <a:solidFill>
                  <a:srgbClr val="1F1F1F"/>
                </a:solidFill>
                <a:latin typeface="Arial MT"/>
                <a:cs typeface="Arial MT"/>
              </a:rPr>
              <a:t> </a:t>
            </a:r>
            <a:r>
              <a:rPr sz="1250" spc="-85" dirty="0">
                <a:solidFill>
                  <a:srgbClr val="2F2F2F"/>
                </a:solidFill>
                <a:latin typeface="Arial MT"/>
                <a:cs typeface="Arial MT"/>
              </a:rPr>
              <a:t>Revenue</a:t>
            </a:r>
            <a:r>
              <a:rPr sz="1250" spc="35" dirty="0">
                <a:solidFill>
                  <a:srgbClr val="2F2F2F"/>
                </a:solidFill>
                <a:latin typeface="Arial MT"/>
                <a:cs typeface="Arial MT"/>
              </a:rPr>
              <a:t> </a:t>
            </a:r>
            <a:r>
              <a:rPr sz="1250" spc="-10" dirty="0">
                <a:solidFill>
                  <a:srgbClr val="3D3D3D"/>
                </a:solidFill>
                <a:latin typeface="Arial MT"/>
                <a:cs typeface="Arial MT"/>
              </a:rPr>
              <a:t>iMillionsi </a:t>
            </a:r>
            <a:r>
              <a:rPr sz="1250" dirty="0">
                <a:solidFill>
                  <a:srgbClr val="525252"/>
                </a:solidFill>
                <a:latin typeface="Arial MT"/>
                <a:cs typeface="Arial MT"/>
              </a:rPr>
              <a:t>b\’</a:t>
            </a:r>
            <a:r>
              <a:rPr sz="1250" spc="60" dirty="0">
                <a:solidFill>
                  <a:srgbClr val="525252"/>
                </a:solidFill>
                <a:latin typeface="Arial MT"/>
                <a:cs typeface="Arial MT"/>
              </a:rPr>
              <a:t> </a:t>
            </a:r>
            <a:r>
              <a:rPr sz="1250" spc="-145" dirty="0">
                <a:solidFill>
                  <a:srgbClr val="3A3A3A"/>
                </a:solidFill>
                <a:latin typeface="Arial MT"/>
                <a:cs typeface="Arial MT"/>
              </a:rPr>
              <a:t>Year</a:t>
            </a:r>
            <a:r>
              <a:rPr sz="1250" spc="60" dirty="0">
                <a:solidFill>
                  <a:srgbClr val="3A3A3A"/>
                </a:solidFill>
                <a:latin typeface="Arial MT"/>
                <a:cs typeface="Arial MT"/>
              </a:rPr>
              <a:t> </a:t>
            </a:r>
            <a:r>
              <a:rPr sz="1250" spc="-90" dirty="0">
                <a:solidFill>
                  <a:srgbClr val="424242"/>
                </a:solidFill>
                <a:latin typeface="Arial MT"/>
                <a:cs typeface="Arial MT"/>
              </a:rPr>
              <a:t>and</a:t>
            </a:r>
            <a:r>
              <a:rPr sz="1250" spc="5" dirty="0">
                <a:solidFill>
                  <a:srgbClr val="424242"/>
                </a:solidFill>
                <a:latin typeface="Arial MT"/>
                <a:cs typeface="Arial MT"/>
              </a:rPr>
              <a:t> </a:t>
            </a:r>
            <a:r>
              <a:rPr sz="1250" spc="-45" dirty="0">
                <a:solidFill>
                  <a:srgbClr val="343434"/>
                </a:solidFill>
                <a:latin typeface="Arial MT"/>
                <a:cs typeface="Arial MT"/>
              </a:rPr>
              <a:t>Genre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812251" y="715771"/>
            <a:ext cx="490093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65" dirty="0">
                <a:solidFill>
                  <a:srgbClr val="151515"/>
                </a:solidFill>
                <a:latin typeface="Arial MT"/>
                <a:cs typeface="Arial MT"/>
              </a:rPr>
              <a:t>As'erage</a:t>
            </a:r>
            <a:r>
              <a:rPr sz="1200" spc="30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1200" spc="-20" dirty="0">
                <a:solidFill>
                  <a:srgbClr val="2A2A2A"/>
                </a:solidFill>
                <a:latin typeface="Arial MT"/>
                <a:cs typeface="Arial MT"/>
              </a:rPr>
              <a:t>of</a:t>
            </a:r>
            <a:r>
              <a:rPr sz="1200" spc="5" dirty="0">
                <a:solidFill>
                  <a:srgbClr val="2A2A2A"/>
                </a:solidFill>
                <a:latin typeface="Arial MT"/>
                <a:cs typeface="Arial MT"/>
              </a:rPr>
              <a:t> </a:t>
            </a:r>
            <a:r>
              <a:rPr sz="1200" spc="-45" dirty="0">
                <a:solidFill>
                  <a:srgbClr val="232323"/>
                </a:solidFill>
                <a:latin typeface="Arial MT"/>
                <a:cs typeface="Arial MT"/>
              </a:rPr>
              <a:t>Revenue</a:t>
            </a:r>
            <a:r>
              <a:rPr sz="1200" dirty="0">
                <a:solidFill>
                  <a:srgbClr val="232323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5D5D5D"/>
                </a:solidFill>
                <a:latin typeface="Arial MT"/>
                <a:cs typeface="Arial MT"/>
              </a:rPr>
              <a:t>I</a:t>
            </a:r>
            <a:r>
              <a:rPr sz="1200" dirty="0">
                <a:solidFill>
                  <a:srgbClr val="1D1D1D"/>
                </a:solidFill>
                <a:latin typeface="Arial MT"/>
                <a:cs typeface="Arial MT"/>
              </a:rPr>
              <a:t>Millions!</a:t>
            </a:r>
            <a:r>
              <a:rPr sz="1200" spc="-50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333333"/>
                </a:solidFill>
                <a:latin typeface="Arial MT"/>
                <a:cs typeface="Arial MT"/>
              </a:rPr>
              <a:t>and</a:t>
            </a:r>
            <a:r>
              <a:rPr sz="1200" spc="-35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200" spc="-40" dirty="0">
                <a:solidFill>
                  <a:srgbClr val="2D2D2D"/>
                </a:solidFill>
                <a:latin typeface="Arial MT"/>
                <a:cs typeface="Arial MT"/>
              </a:rPr>
              <a:t>Average</a:t>
            </a:r>
            <a:r>
              <a:rPr sz="1200" spc="15" dirty="0">
                <a:solidFill>
                  <a:srgbClr val="2D2D2D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42424"/>
                </a:solidFill>
                <a:latin typeface="Arial MT"/>
                <a:cs typeface="Arial MT"/>
              </a:rPr>
              <a:t>of</a:t>
            </a:r>
            <a:r>
              <a:rPr sz="1200" spc="-15" dirty="0">
                <a:solidFill>
                  <a:srgbClr val="242424"/>
                </a:solidFill>
                <a:latin typeface="Arial MT"/>
                <a:cs typeface="Arial MT"/>
              </a:rPr>
              <a:t> </a:t>
            </a:r>
            <a:r>
              <a:rPr sz="1200" spc="-20" dirty="0">
                <a:solidFill>
                  <a:srgbClr val="1C1C1C"/>
                </a:solidFill>
                <a:latin typeface="Arial MT"/>
                <a:cs typeface="Arial MT"/>
              </a:rPr>
              <a:t>Rating</a:t>
            </a:r>
            <a:r>
              <a:rPr sz="1200" spc="-5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3F3F3F"/>
                </a:solidFill>
                <a:latin typeface="Arial MT"/>
                <a:cs typeface="Arial MT"/>
              </a:rPr>
              <a:t>b\’</a:t>
            </a:r>
            <a:r>
              <a:rPr sz="1200" spc="-85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313131"/>
                </a:solidFill>
                <a:latin typeface="Arial MT"/>
                <a:cs typeface="Arial MT"/>
              </a:rPr>
              <a:t>Runtime</a:t>
            </a:r>
            <a:r>
              <a:rPr sz="1200" spc="10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111111"/>
                </a:solidFill>
                <a:latin typeface="Arial MT"/>
                <a:cs typeface="Arial MT"/>
              </a:rPr>
              <a:t>Categog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360895" y="3315461"/>
            <a:ext cx="3221355" cy="396240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12700" marR="5080" indent="6350">
              <a:lnSpc>
                <a:spcPts val="1420"/>
              </a:lnSpc>
              <a:spcBef>
                <a:spcPts val="210"/>
              </a:spcBef>
            </a:pPr>
            <a:r>
              <a:rPr sz="1250" spc="-95" dirty="0">
                <a:solidFill>
                  <a:srgbClr val="313131"/>
                </a:solidFill>
                <a:latin typeface="Arial MT"/>
                <a:cs typeface="Arial MT"/>
              </a:rPr>
              <a:t>As'erage</a:t>
            </a:r>
            <a:r>
              <a:rPr sz="1250" spc="5" dirty="0">
                <a:solidFill>
                  <a:srgbClr val="313131"/>
                </a:solidFill>
                <a:latin typeface="Arial MT"/>
                <a:cs typeface="Arial MT"/>
              </a:rPr>
              <a:t> </a:t>
            </a:r>
            <a:r>
              <a:rPr sz="1250" spc="-60" dirty="0">
                <a:solidFill>
                  <a:srgbClr val="2B2B2B"/>
                </a:solidFill>
                <a:latin typeface="Arial MT"/>
                <a:cs typeface="Arial MT"/>
              </a:rPr>
              <a:t>of</a:t>
            </a:r>
            <a:r>
              <a:rPr sz="1250" spc="-25" dirty="0">
                <a:solidFill>
                  <a:srgbClr val="2B2B2B"/>
                </a:solidFill>
                <a:latin typeface="Arial MT"/>
                <a:cs typeface="Arial MT"/>
              </a:rPr>
              <a:t> </a:t>
            </a:r>
            <a:r>
              <a:rPr sz="1250" spc="-60" dirty="0">
                <a:solidFill>
                  <a:srgbClr val="1C1C1C"/>
                </a:solidFill>
                <a:latin typeface="Arial MT"/>
                <a:cs typeface="Arial MT"/>
              </a:rPr>
              <a:t>Rating</a:t>
            </a:r>
            <a:r>
              <a:rPr sz="1250" spc="-30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250" spc="-90" dirty="0">
                <a:solidFill>
                  <a:srgbClr val="444444"/>
                </a:solidFill>
                <a:latin typeface="Arial MT"/>
                <a:cs typeface="Arial MT"/>
              </a:rPr>
              <a:t>and</a:t>
            </a:r>
            <a:r>
              <a:rPr sz="1250" spc="-15" dirty="0">
                <a:solidFill>
                  <a:srgbClr val="444444"/>
                </a:solidFill>
                <a:latin typeface="Arial MT"/>
                <a:cs typeface="Arial MT"/>
              </a:rPr>
              <a:t> </a:t>
            </a:r>
            <a:r>
              <a:rPr sz="1250" spc="-65" dirty="0">
                <a:solidFill>
                  <a:srgbClr val="2D2D2D"/>
                </a:solidFill>
                <a:latin typeface="Arial MT"/>
                <a:cs typeface="Arial MT"/>
              </a:rPr>
              <a:t>Count</a:t>
            </a:r>
            <a:r>
              <a:rPr sz="1250" spc="-10" dirty="0">
                <a:solidFill>
                  <a:srgbClr val="2D2D2D"/>
                </a:solidFill>
                <a:latin typeface="Arial MT"/>
                <a:cs typeface="Arial MT"/>
              </a:rPr>
              <a:t> </a:t>
            </a:r>
            <a:r>
              <a:rPr sz="1250" spc="-20" dirty="0">
                <a:solidFill>
                  <a:srgbClr val="3F3F3F"/>
                </a:solidFill>
                <a:latin typeface="Arial MT"/>
                <a:cs typeface="Arial MT"/>
              </a:rPr>
              <a:t>of</a:t>
            </a:r>
            <a:r>
              <a:rPr sz="1250" spc="20" dirty="0">
                <a:solidFill>
                  <a:srgbClr val="3F3F3F"/>
                </a:solidFill>
                <a:latin typeface="Arial MT"/>
                <a:cs typeface="Arial MT"/>
              </a:rPr>
              <a:t> </a:t>
            </a:r>
            <a:r>
              <a:rPr sz="1250" spc="-30" dirty="0">
                <a:solidFill>
                  <a:srgbClr val="1C1C1C"/>
                </a:solidFill>
                <a:latin typeface="Arial MT"/>
                <a:cs typeface="Arial MT"/>
              </a:rPr>
              <a:t>Title</a:t>
            </a:r>
            <a:r>
              <a:rPr sz="1250" spc="-55" dirty="0">
                <a:solidFill>
                  <a:srgbClr val="1C1C1C"/>
                </a:solidFill>
                <a:latin typeface="Arial MT"/>
                <a:cs typeface="Arial MT"/>
              </a:rPr>
              <a:t> </a:t>
            </a:r>
            <a:r>
              <a:rPr sz="1250" spc="-10" dirty="0">
                <a:solidFill>
                  <a:srgbClr val="262626"/>
                </a:solidFill>
                <a:latin typeface="Arial MT"/>
                <a:cs typeface="Arial MT"/>
              </a:rPr>
              <a:t>by</a:t>
            </a:r>
            <a:r>
              <a:rPr sz="1250" spc="30" dirty="0">
                <a:solidFill>
                  <a:srgbClr val="262626"/>
                </a:solidFill>
                <a:latin typeface="Arial MT"/>
                <a:cs typeface="Arial MT"/>
              </a:rPr>
              <a:t> </a:t>
            </a:r>
            <a:r>
              <a:rPr sz="1250" spc="-120" dirty="0">
                <a:solidFill>
                  <a:srgbClr val="3D3D3D"/>
                </a:solidFill>
                <a:latin typeface="Arial MT"/>
                <a:cs typeface="Arial MT"/>
              </a:rPr>
              <a:t>Year</a:t>
            </a:r>
            <a:r>
              <a:rPr sz="1250" spc="30" dirty="0">
                <a:solidFill>
                  <a:srgbClr val="3D3D3D"/>
                </a:solidFill>
                <a:latin typeface="Arial MT"/>
                <a:cs typeface="Arial MT"/>
              </a:rPr>
              <a:t> </a:t>
            </a:r>
            <a:r>
              <a:rPr sz="1250" spc="-25" dirty="0">
                <a:solidFill>
                  <a:srgbClr val="3A3A3A"/>
                </a:solidFill>
                <a:latin typeface="Arial MT"/>
                <a:cs typeface="Arial MT"/>
              </a:rPr>
              <a:t>and </a:t>
            </a:r>
            <a:r>
              <a:rPr sz="1250" spc="-90" dirty="0">
                <a:solidFill>
                  <a:srgbClr val="3B3B3B"/>
                </a:solidFill>
                <a:latin typeface="Arial MT"/>
                <a:cs typeface="Arial MT"/>
              </a:rPr>
              <a:t>Re'zenue</a:t>
            </a:r>
            <a:r>
              <a:rPr sz="1250" spc="215" dirty="0">
                <a:solidFill>
                  <a:srgbClr val="3B3B3B"/>
                </a:solidFill>
                <a:latin typeface="Arial MT"/>
                <a:cs typeface="Arial MT"/>
              </a:rPr>
              <a:t> </a:t>
            </a:r>
            <a:r>
              <a:rPr sz="1250" spc="-10" dirty="0">
                <a:solidFill>
                  <a:srgbClr val="2D2D2D"/>
                </a:solidFill>
                <a:latin typeface="Arial MT"/>
                <a:cs typeface="Arial MT"/>
              </a:rPr>
              <a:t>klillions</a:t>
            </a:r>
            <a:endParaRPr sz="125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076018" y="3312414"/>
            <a:ext cx="2308860" cy="2051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50" spc="-75" dirty="0">
                <a:solidFill>
                  <a:srgbClr val="1D1D1D"/>
                </a:solidFill>
                <a:latin typeface="Arial MT"/>
                <a:cs typeface="Arial MT"/>
              </a:rPr>
              <a:t>TotalRevenue</a:t>
            </a:r>
            <a:r>
              <a:rPr sz="1250" spc="-15" dirty="0">
                <a:solidFill>
                  <a:srgbClr val="1D1D1D"/>
                </a:solidFill>
                <a:latin typeface="Arial MT"/>
                <a:cs typeface="Arial MT"/>
              </a:rPr>
              <a:t> </a:t>
            </a:r>
            <a:r>
              <a:rPr sz="1250" spc="-10" dirty="0">
                <a:solidFill>
                  <a:srgbClr val="4D4D4D"/>
                </a:solidFill>
                <a:latin typeface="Arial MT"/>
                <a:cs typeface="Arial MT"/>
              </a:rPr>
              <a:t>by</a:t>
            </a:r>
            <a:r>
              <a:rPr sz="1250" spc="-15" dirty="0">
                <a:solidFill>
                  <a:srgbClr val="4D4D4D"/>
                </a:solidFill>
                <a:latin typeface="Arial MT"/>
                <a:cs typeface="Arial MT"/>
              </a:rPr>
              <a:t> </a:t>
            </a:r>
            <a:r>
              <a:rPr sz="1250" spc="-80" dirty="0">
                <a:solidFill>
                  <a:srgbClr val="343434"/>
                </a:solidFill>
                <a:latin typeface="Arial MT"/>
                <a:cs typeface="Arial MT"/>
              </a:rPr>
              <a:t>Genre</a:t>
            </a:r>
            <a:r>
              <a:rPr sz="1250" spc="20" dirty="0">
                <a:solidFill>
                  <a:srgbClr val="343434"/>
                </a:solidFill>
                <a:latin typeface="Arial MT"/>
                <a:cs typeface="Arial MT"/>
              </a:rPr>
              <a:t> </a:t>
            </a:r>
            <a:r>
              <a:rPr sz="1250" spc="-95" dirty="0">
                <a:solidFill>
                  <a:srgbClr val="333333"/>
                </a:solidFill>
                <a:latin typeface="Arial MT"/>
                <a:cs typeface="Arial MT"/>
              </a:rPr>
              <a:t>and</a:t>
            </a:r>
            <a:r>
              <a:rPr sz="1250" spc="1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1250" spc="-25" dirty="0">
                <a:solidFill>
                  <a:srgbClr val="1A1A1A"/>
                </a:solidFill>
                <a:latin typeface="Arial MT"/>
                <a:cs typeface="Arial MT"/>
              </a:rPr>
              <a:t>Rating</a:t>
            </a:r>
            <a:endParaRPr sz="1250">
              <a:latin typeface="Arial MT"/>
              <a:cs typeface="Arial M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181" y="252350"/>
            <a:ext cx="7343298" cy="1054198"/>
          </a:xfrm>
          <a:prstGeom prst="rect">
            <a:avLst/>
          </a:prstGeom>
        </p:spPr>
        <p:txBody>
          <a:bodyPr vert="horz" wrap="square" lIns="0" tIns="373443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dirty="0"/>
              <a:t>6.</a:t>
            </a:r>
            <a:r>
              <a:rPr spc="-5" dirty="0"/>
              <a:t> </a:t>
            </a:r>
            <a:r>
              <a:rPr spc="-10" dirty="0"/>
              <a:t>Conclusion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7576" y="1840549"/>
            <a:ext cx="10205085" cy="37779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8745" indent="-114300">
              <a:spcBef>
                <a:spcPts val="100"/>
              </a:spcBef>
              <a:buSzPct val="95833"/>
              <a:buFont typeface="Arial MT"/>
              <a:buChar char="•"/>
              <a:tabLst>
                <a:tab pos="118745" algn="l"/>
              </a:tabLst>
            </a:pPr>
            <a:r>
              <a:rPr sz="2400" b="1" dirty="0">
                <a:latin typeface="Arial"/>
                <a:cs typeface="Arial"/>
              </a:rPr>
              <a:t>Movie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Releases: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Certain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years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had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more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releases,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showing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industry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ts val="2865"/>
              </a:lnSpc>
              <a:spcBef>
                <a:spcPts val="50"/>
              </a:spcBef>
            </a:pPr>
            <a:r>
              <a:rPr sz="2400" dirty="0">
                <a:latin typeface="Arial MT"/>
                <a:cs typeface="Arial MT"/>
              </a:rPr>
              <a:t>growth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trends.</a:t>
            </a:r>
            <a:endParaRPr sz="2400">
              <a:latin typeface="Arial MT"/>
              <a:cs typeface="Arial MT"/>
            </a:endParaRPr>
          </a:p>
          <a:p>
            <a:pPr marL="118745" indent="-114300">
              <a:lnSpc>
                <a:spcPts val="2855"/>
              </a:lnSpc>
              <a:buSzPct val="95833"/>
              <a:buFont typeface="Arial MT"/>
              <a:buChar char="•"/>
              <a:tabLst>
                <a:tab pos="118745" algn="l"/>
              </a:tabLst>
            </a:pPr>
            <a:r>
              <a:rPr sz="2400" b="1" dirty="0">
                <a:latin typeface="Arial"/>
                <a:cs typeface="Arial"/>
              </a:rPr>
              <a:t>Revenue</a:t>
            </a:r>
            <a:r>
              <a:rPr sz="2400" b="1" spc="-8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&amp;</a:t>
            </a:r>
            <a:r>
              <a:rPr sz="2400" b="1" spc="-3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Ratings: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Top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genres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directors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drive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most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box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office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ts val="2865"/>
              </a:lnSpc>
            </a:pPr>
            <a:r>
              <a:rPr sz="2400" spc="-10" dirty="0">
                <a:latin typeface="Arial MT"/>
                <a:cs typeface="Arial MT"/>
              </a:rPr>
              <a:t>revenue.</a:t>
            </a:r>
            <a:endParaRPr sz="2400">
              <a:latin typeface="Arial MT"/>
              <a:cs typeface="Arial MT"/>
            </a:endParaRPr>
          </a:p>
          <a:p>
            <a:pPr marL="12700" marR="299085" indent="-8255">
              <a:lnSpc>
                <a:spcPts val="2850"/>
              </a:lnSpc>
              <a:spcBef>
                <a:spcPts val="170"/>
              </a:spcBef>
              <a:buSzPct val="95833"/>
              <a:buFont typeface="Arial MT"/>
              <a:buChar char="•"/>
              <a:tabLst>
                <a:tab pos="118745" algn="l"/>
              </a:tabLst>
            </a:pPr>
            <a:r>
              <a:rPr sz="2400" b="1" dirty="0">
                <a:latin typeface="Arial"/>
                <a:cs typeface="Arial"/>
              </a:rPr>
              <a:t>	Audience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Engagement: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Higher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IMDb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ratings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often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correlate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with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higher </a:t>
            </a:r>
            <a:r>
              <a:rPr sz="2400" dirty="0">
                <a:latin typeface="Arial MT"/>
                <a:cs typeface="Arial MT"/>
              </a:rPr>
              <a:t>revenue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votes.</a:t>
            </a:r>
            <a:endParaRPr sz="2400">
              <a:latin typeface="Arial MT"/>
              <a:cs typeface="Arial MT"/>
            </a:endParaRPr>
          </a:p>
          <a:p>
            <a:pPr marL="12700" marR="46355" indent="-8255">
              <a:lnSpc>
                <a:spcPts val="2860"/>
              </a:lnSpc>
              <a:spcBef>
                <a:spcPts val="70"/>
              </a:spcBef>
              <a:buSzPct val="95833"/>
              <a:buFont typeface="Arial MT"/>
              <a:buChar char="•"/>
              <a:tabLst>
                <a:tab pos="118745" algn="l"/>
              </a:tabLst>
            </a:pPr>
            <a:r>
              <a:rPr sz="2400" b="1" dirty="0">
                <a:latin typeface="Arial"/>
                <a:cs typeface="Arial"/>
              </a:rPr>
              <a:t>	Comparative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Analysis: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Some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genres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or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directors</a:t>
            </a:r>
            <a:r>
              <a:rPr sz="2400" spc="-1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consistently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outperform others.</a:t>
            </a:r>
            <a:endParaRPr sz="2400">
              <a:latin typeface="Arial MT"/>
              <a:cs typeface="Arial MT"/>
            </a:endParaRPr>
          </a:p>
          <a:p>
            <a:pPr marL="118745" indent="-114300">
              <a:lnSpc>
                <a:spcPts val="2755"/>
              </a:lnSpc>
              <a:buSzPct val="95833"/>
              <a:buFont typeface="Arial MT"/>
              <a:buChar char="•"/>
              <a:tabLst>
                <a:tab pos="118745" algn="l"/>
              </a:tabLst>
            </a:pPr>
            <a:r>
              <a:rPr sz="2400" b="1" dirty="0">
                <a:latin typeface="Arial"/>
                <a:cs typeface="Arial"/>
              </a:rPr>
              <a:t>Overall: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Clear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insights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into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trends,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top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performers,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factors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influencing</a:t>
            </a:r>
            <a:endParaRPr sz="2400">
              <a:latin typeface="Arial MT"/>
              <a:cs typeface="Arial MT"/>
            </a:endParaRPr>
          </a:p>
          <a:p>
            <a:pPr marL="12700">
              <a:spcBef>
                <a:spcPts val="50"/>
              </a:spcBef>
            </a:pPr>
            <a:r>
              <a:rPr sz="2400" dirty="0">
                <a:latin typeface="Arial MT"/>
                <a:cs typeface="Arial MT"/>
              </a:rPr>
              <a:t>movie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success.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67477" y="1847850"/>
            <a:ext cx="4467225" cy="283845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24228" y="2995993"/>
            <a:ext cx="2369820" cy="1369060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2700" marR="5080">
              <a:lnSpc>
                <a:spcPts val="5260"/>
              </a:lnSpc>
              <a:spcBef>
                <a:spcPts val="254"/>
              </a:spcBef>
            </a:pPr>
            <a:r>
              <a:rPr b="0" spc="320" dirty="0">
                <a:solidFill>
                  <a:srgbClr val="C00000"/>
                </a:solidFill>
                <a:latin typeface="Palatino Linotype"/>
                <a:cs typeface="Palatino Linotype"/>
              </a:rPr>
              <a:t>THANK </a:t>
            </a:r>
            <a:r>
              <a:rPr b="0" spc="430" dirty="0">
                <a:solidFill>
                  <a:srgbClr val="C00000"/>
                </a:solidFill>
                <a:latin typeface="Palatino Linotype"/>
                <a:cs typeface="Palatino Linotype"/>
              </a:rPr>
              <a:t>YOU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79</TotalTime>
  <Words>722</Words>
  <Application>Microsoft Office PowerPoint</Application>
  <PresentationFormat>Widescreen</PresentationFormat>
  <Paragraphs>100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Arial MT</vt:lpstr>
      <vt:lpstr>Calibri</vt:lpstr>
      <vt:lpstr>Consolas</vt:lpstr>
      <vt:lpstr>Palatino Linotype</vt:lpstr>
      <vt:lpstr>Office Theme</vt:lpstr>
      <vt:lpstr>           Movie Sales Analysis</vt:lpstr>
      <vt:lpstr>1. Business Problem &amp; Use Case / Domain Understanding</vt:lpstr>
      <vt:lpstr>2. Objective of the Project</vt:lpstr>
      <vt:lpstr>3. Data Importing– Details</vt:lpstr>
      <vt:lpstr>4. Summary of the Data</vt:lpstr>
      <vt:lpstr>Exploratory Data Analysis:</vt:lpstr>
      <vt:lpstr>5. Key Business Questions</vt:lpstr>
      <vt:lpstr>PowerPoint Presentation</vt:lpstr>
      <vt:lpstr>PowerPoint Presentation</vt:lpstr>
      <vt:lpstr>Top Performers &amp; Box OZice Insights</vt:lpstr>
      <vt:lpstr>PowerPoint Presentation</vt:lpstr>
      <vt:lpstr>6. 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Aravindsai Thanneru</cp:lastModifiedBy>
  <cp:revision>4</cp:revision>
  <cp:lastPrinted>2025-10-16T10:35:37Z</cp:lastPrinted>
  <dcterms:created xsi:type="dcterms:W3CDTF">2025-10-15T18:05:58Z</dcterms:created>
  <dcterms:modified xsi:type="dcterms:W3CDTF">2025-10-16T10:40:21Z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2025-10-15T00:00:00Z</vt:filetime>
  </property>
  <property fmtid="{D5CDD505-2E9C-101B-9397-08002B2CF9AE}" pid="3" name="LastSaved">
    <vt:filetime>2025-10-15T00:00:00Z</vt:filetime>
  </property>
</Properties>
</file>